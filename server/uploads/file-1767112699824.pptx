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9" r:id="rId1"/>
  </p:sldMasterIdLst>
  <p:notesMasterIdLst>
    <p:notesMasterId r:id="rId18"/>
  </p:notesMasterIdLst>
  <p:handoutMasterIdLst>
    <p:handoutMasterId r:id="rId19"/>
  </p:handoutMasterIdLst>
  <p:sldIdLst>
    <p:sldId id="354" r:id="rId2"/>
    <p:sldId id="369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CCFF99"/>
    <a:srgbClr val="FFCC99"/>
    <a:srgbClr val="FF993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87843" autoAdjust="0"/>
  </p:normalViewPr>
  <p:slideViewPr>
    <p:cSldViewPr>
      <p:cViewPr varScale="1">
        <p:scale>
          <a:sx n="72" d="100"/>
          <a:sy n="72" d="100"/>
        </p:scale>
        <p:origin x="176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-636" y="258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57213" y="314325"/>
            <a:ext cx="365760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l" defTabSz="966788">
              <a:defRPr sz="1700" b="1" i="1"/>
            </a:lvl1pPr>
          </a:lstStyle>
          <a:p>
            <a:pPr>
              <a:defRPr/>
            </a:pPr>
            <a:r>
              <a:rPr lang="en-US"/>
              <a:t>Design and Analysis of Algorithms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314325"/>
            <a:ext cx="2613025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defTabSz="966788">
              <a:defRPr sz="1700" b="1" i="1"/>
            </a:lvl1pPr>
          </a:lstStyle>
          <a:p>
            <a:pPr>
              <a:defRPr/>
            </a:pPr>
            <a:r>
              <a:rPr lang="en-US"/>
              <a:t>Chapter 1</a:t>
            </a:r>
          </a:p>
        </p:txBody>
      </p:sp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81321E3F-BD95-4DB0-B168-A89CBC445A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60888"/>
            <a:ext cx="5362575" cy="432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18E7288C-4BE8-488D-A874-F9D88FA6C0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ist.gov/dads/HTML/undirectgraf.html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nist.gov/dads/HTML/directedGraph.html" TargetMode="External"/><Relationship Id="rId5" Type="http://schemas.openxmlformats.org/officeDocument/2006/relationships/hyperlink" Target="http://www.nist.gov/dads/HTML/vertex.html" TargetMode="External"/><Relationship Id="rId4" Type="http://schemas.openxmlformats.org/officeDocument/2006/relationships/hyperlink" Target="http://www.nist.gov/dads/HTML/path.html" TargetMode="Externa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9F025-D1CD-E757-A8D4-81B76BE43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84CF47AE-A4E1-9089-B898-5EBA6296B8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DF95F8-E2DC-44A9-AB37-EC23281D1104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2597D3FC-02D5-9BBF-A760-14EDC77D4A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C7F0F650-E1EB-0F29-4866-50FF3B6DD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47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DF95F8-E2DC-44A9-AB37-EC23281D110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5EAA1A-B2A6-43B1-B5CC-10A282A6286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1800" dirty="0"/>
              <a:t>Arrays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1800" dirty="0"/>
              <a:t>A sequence of n items of the same data type that are stored contiguously in computer memory and made accessible by specifying a value of the array’s index.</a:t>
            </a:r>
          </a:p>
          <a:p>
            <a:pPr>
              <a:lnSpc>
                <a:spcPct val="90000"/>
              </a:lnSpc>
              <a:defRPr/>
            </a:pPr>
            <a:r>
              <a:rPr lang="en-US" sz="1800" dirty="0"/>
              <a:t>Linked List</a:t>
            </a:r>
          </a:p>
          <a:p>
            <a:pPr lvl="1">
              <a:lnSpc>
                <a:spcPct val="90000"/>
              </a:lnSpc>
              <a:defRPr/>
            </a:pPr>
            <a:r>
              <a:rPr lang="en-US" sz="1800" dirty="0"/>
              <a:t>A sequence of zero or more nodes each containing two kinds of information: some data and one or more links called pointers to other nodes of the linked list.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84DB39-E477-455D-A0FA-B9001C68C59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B54D-9A17-43D2-81E9-950264E5929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4890D0-3783-4204-8A1D-5CDF61E66ED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222F1D-FEF5-4E11-91F1-96F170B62B4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056FF2-93A6-45EA-BDB3-37EFDAD09A5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11C937-7576-452D-AD57-0CC04B97EF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</p:spPr>
        <p:txBody>
          <a:bodyPr/>
          <a:lstStyle/>
          <a:p>
            <a:r>
              <a:rPr lang="en-US"/>
              <a:t>Examples of a simple path and a not simple path.</a:t>
            </a:r>
          </a:p>
          <a:p>
            <a:r>
              <a:rPr lang="en-US"/>
              <a:t>Connected graphs: starting from any vertex, we can always find a path to reach all the other vertices. (Ball-String example.)</a:t>
            </a:r>
          </a:p>
          <a:p>
            <a:endParaRPr lang="en-US"/>
          </a:p>
          <a:p>
            <a:r>
              <a:rPr lang="en-US"/>
              <a:t>From NIST:</a:t>
            </a:r>
          </a:p>
          <a:p>
            <a:r>
              <a:rPr lang="en-US"/>
              <a:t>Connected graphs:</a:t>
            </a:r>
          </a:p>
          <a:p>
            <a:r>
              <a:rPr lang="en-US"/>
              <a:t>	</a:t>
            </a:r>
            <a:r>
              <a:rPr lang="en-CA" b="1"/>
              <a:t>Definition:</a:t>
            </a:r>
            <a:r>
              <a:rPr lang="en-CA"/>
              <a:t> An </a:t>
            </a:r>
            <a:r>
              <a:rPr lang="en-CA" i="1">
                <a:hlinkClick r:id="rId3"/>
              </a:rPr>
              <a:t>undirected graph</a:t>
            </a:r>
            <a:r>
              <a:rPr lang="en-CA"/>
              <a:t> that has a </a:t>
            </a:r>
            <a:r>
              <a:rPr lang="en-CA" i="1">
                <a:hlinkClick r:id="rId4"/>
              </a:rPr>
              <a:t>path</a:t>
            </a:r>
            <a:r>
              <a:rPr lang="en-CA"/>
              <a:t> between every pair of </a:t>
            </a:r>
            <a:r>
              <a:rPr lang="en-CA" i="1">
                <a:hlinkClick r:id="rId5"/>
              </a:rPr>
              <a:t>vertices</a:t>
            </a:r>
            <a:r>
              <a:rPr lang="en-CA"/>
              <a:t>. </a:t>
            </a:r>
            <a:endParaRPr lang="en-US"/>
          </a:p>
          <a:p>
            <a:r>
              <a:rPr lang="en-US"/>
              <a:t>Strongly connected graphs:</a:t>
            </a:r>
          </a:p>
          <a:p>
            <a:r>
              <a:rPr lang="en-US"/>
              <a:t>	</a:t>
            </a:r>
            <a:r>
              <a:rPr lang="en-CA" b="1"/>
              <a:t>Definition:</a:t>
            </a:r>
            <a:r>
              <a:rPr lang="en-CA"/>
              <a:t> A </a:t>
            </a:r>
            <a:r>
              <a:rPr lang="en-CA" i="1">
                <a:hlinkClick r:id="rId6"/>
              </a:rPr>
              <a:t>directed graph</a:t>
            </a:r>
            <a:r>
              <a:rPr lang="en-CA"/>
              <a:t> that has a </a:t>
            </a:r>
            <a:r>
              <a:rPr lang="en-CA" i="1">
                <a:hlinkClick r:id="rId4"/>
              </a:rPr>
              <a:t>path</a:t>
            </a:r>
            <a:r>
              <a:rPr lang="en-CA"/>
              <a:t> from each </a:t>
            </a:r>
            <a:r>
              <a:rPr lang="en-CA" i="1">
                <a:hlinkClick r:id="rId5"/>
              </a:rPr>
              <a:t>vertex</a:t>
            </a:r>
            <a:r>
              <a:rPr lang="en-CA"/>
              <a:t> to every other vertex. </a:t>
            </a:r>
            <a:endParaRPr lang="en-US"/>
          </a:p>
          <a:p>
            <a:r>
              <a:rPr lang="en-US"/>
              <a:t>Connected component: …</a:t>
            </a:r>
          </a:p>
          <a:p>
            <a:r>
              <a:rPr lang="en-US"/>
              <a:t>Strongly connected component:</a:t>
            </a:r>
          </a:p>
          <a:p>
            <a:r>
              <a:rPr lang="en-US"/>
              <a:t>	a strongly connected component of a digraph G is a maximal strongly connected subgraph of G.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7F0C3C-5A67-4A65-921D-478840C499F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130758-C226-48C5-815A-3DB00C93F43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77CF9A-EA81-4021-9437-6D30FCC148E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3DBB36-8807-46C1-82D6-7C575A0D28D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1EBF68-53E7-4229-A61D-6F11440E4D9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binary tree is an ordered tree in which every vertex has no more than two children and each children is designated s either a left child or a right child of its parent.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-182880"/>
            <a:ext cx="7772400" cy="9144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838200" y="1981200"/>
            <a:ext cx="7543800" cy="39624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1295400" y="6248400"/>
            <a:ext cx="19050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7338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FFFFFF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162800" y="6248400"/>
            <a:ext cx="19050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147B172-EB84-42E9-98D2-591820C2F1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Tx/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7033B38D-99F8-4249-8760-ED898606B8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8CBC77DB-B101-4E68-B1AA-743AA29918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66825"/>
            <a:ext cx="4076700" cy="4905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266825"/>
            <a:ext cx="4076700" cy="4905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00D21E75-3262-4FAA-8F2D-1280259DC1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683341E1-268D-45DF-945B-24C42DC9AA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8188FF9B-DA24-4A82-A5F9-39A4A3F6B4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E004D313-E551-4B03-9F02-F581B2147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86B65184-7FCF-4795-B204-B503FEBB50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3F615543-594A-4B79-8EFF-36A103936E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E5C69884-912E-4CB6-B386-1BDC610452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8950" y="152400"/>
            <a:ext cx="207645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607695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A25E4D04-C4ED-4D26-AE79-E5B73517BE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6825"/>
            <a:ext cx="8305800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2555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>
                <a:latin typeface="Arial Narrow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86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61200" y="6426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5167CA6B-E8DC-4528-BD85-6110BBF9B7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auto">
          <a:xfrm>
            <a:off x="1981200" y="2179638"/>
            <a:ext cx="190500" cy="467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94" name="Rectangle 22"/>
          <p:cNvSpPr>
            <a:spLocks noGrp="1" noChangeArrowheads="1"/>
          </p:cNvSpPr>
          <p:nvPr>
            <p:ph type="title"/>
          </p:nvPr>
        </p:nvSpPr>
        <p:spPr bwMode="auto">
          <a:xfrm>
            <a:off x="0" y="-182880"/>
            <a:ext cx="75882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100" name="Rectangle 28"/>
          <p:cNvSpPr>
            <a:spLocks noChangeArrowheads="1"/>
          </p:cNvSpPr>
          <p:nvPr userDrawn="1"/>
        </p:nvSpPr>
        <p:spPr bwMode="auto">
          <a:xfrm>
            <a:off x="685800" y="6197600"/>
            <a:ext cx="3886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l">
              <a:defRPr/>
            </a:pPr>
            <a:r>
              <a:rPr lang="en-US" sz="800">
                <a:latin typeface="Arial" charset="0"/>
                <a:ea typeface="ヒラギノ角ゴ Pro W3" pitchFamily="84" charset="-128"/>
              </a:rPr>
              <a:t>Copyright © 2007 Pearson Addison-Wesley. All rights reserved.</a:t>
            </a:r>
            <a:endParaRPr lang="en-US" sz="900">
              <a:latin typeface="Arial" charset="0"/>
              <a:ea typeface="ヒラギノ角ゴ Pro W3" pitchFamily="84" charset="-128"/>
            </a:endParaRPr>
          </a:p>
        </p:txBody>
      </p:sp>
      <p:sp>
        <p:nvSpPr>
          <p:cNvPr id="3101" name="Rectangle 29"/>
          <p:cNvSpPr>
            <a:spLocks noGrp="1" noChangeArrowheads="1"/>
          </p:cNvSpPr>
          <p:nvPr userDrawn="1"/>
        </p:nvSpPr>
        <p:spPr bwMode="auto">
          <a:xfrm>
            <a:off x="2743200" y="6477000"/>
            <a:ext cx="640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1000">
                <a:latin typeface="Arial Narrow" pitchFamily="34" charset="0"/>
                <a:ea typeface="ヒラギノ角ゴ Pro W3" pitchFamily="84" charset="-128"/>
              </a:rPr>
              <a:t>A. Levitin </a:t>
            </a:r>
            <a:r>
              <a:rPr lang="en-US" sz="1000">
                <a:latin typeface="Arial"/>
                <a:ea typeface="ヒラギノ角ゴ Pro W3" pitchFamily="84" charset="-128"/>
              </a:rPr>
              <a:t>“</a:t>
            </a:r>
            <a:r>
              <a:rPr lang="en-US" sz="1000">
                <a:latin typeface="Arial Narrow" pitchFamily="34" charset="0"/>
                <a:ea typeface="ヒラギノ角ゴ Pro W3" pitchFamily="84" charset="-128"/>
              </a:rPr>
              <a:t>Introduction to the Design &amp; Analysis of Algorithms,</a:t>
            </a:r>
            <a:r>
              <a:rPr lang="en-US" sz="1000">
                <a:latin typeface="Arial"/>
                <a:ea typeface="ヒラギノ角ゴ Pro W3" pitchFamily="84" charset="-128"/>
              </a:rPr>
              <a:t>”</a:t>
            </a:r>
            <a:r>
              <a:rPr lang="en-US" sz="1000">
                <a:latin typeface="Arial Narrow" pitchFamily="34" charset="0"/>
                <a:ea typeface="ヒラギノ角ゴ Pro W3" pitchFamily="84" charset="-128"/>
              </a:rPr>
              <a:t> 2</a:t>
            </a:r>
            <a:r>
              <a:rPr lang="en-US" sz="1000" baseline="30000">
                <a:latin typeface="Arial Narrow" pitchFamily="34" charset="0"/>
                <a:ea typeface="ヒラギノ角ゴ Pro W3" pitchFamily="84" charset="-128"/>
              </a:rPr>
              <a:t>nd</a:t>
            </a:r>
            <a:r>
              <a:rPr lang="en-US" sz="1000">
                <a:latin typeface="Arial Narrow" pitchFamily="34" charset="0"/>
                <a:ea typeface="ヒラギノ角ゴ Pro W3" pitchFamily="84" charset="-128"/>
              </a:rPr>
              <a:t> ed., Ch. 1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2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0">
          <a:solidFill>
            <a:schemeClr val="bg2"/>
          </a:solidFill>
          <a:effectLst/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bg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bg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bg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bg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SzPct val="75000"/>
        <a:buFont typeface="Monotype Sorts" pitchFamily="2" charset="2"/>
        <a:buChar char="b"/>
        <a:defRPr kumimoji="1" sz="2400" b="0">
          <a:solidFill>
            <a:schemeClr val="bg2"/>
          </a:solidFill>
          <a:effectLst/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Char char="•"/>
        <a:defRPr kumimoji="1" sz="2000" b="0">
          <a:solidFill>
            <a:schemeClr val="bg2"/>
          </a:solidFill>
          <a:effectLst/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Char char="–"/>
        <a:defRPr kumimoji="1" sz="2400" b="0">
          <a:solidFill>
            <a:schemeClr val="bg2"/>
          </a:solidFill>
          <a:effectLst/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Char char="–"/>
        <a:defRPr kumimoji="1" sz="2000" b="0">
          <a:solidFill>
            <a:schemeClr val="bg2"/>
          </a:solidFill>
          <a:effectLst/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Char char="»"/>
        <a:defRPr kumimoji="1" sz="2000" b="0">
          <a:solidFill>
            <a:schemeClr val="bg2"/>
          </a:solidFill>
          <a:effectLst/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Char char="»"/>
        <a:defRPr kumimoji="1" b="1">
          <a:solidFill>
            <a:srgbClr val="FFFF99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Char char="»"/>
        <a:defRPr kumimoji="1" b="1">
          <a:solidFill>
            <a:srgbClr val="FFFF99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Char char="»"/>
        <a:defRPr kumimoji="1" b="1">
          <a:solidFill>
            <a:srgbClr val="FFFF99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Char char="»"/>
        <a:defRPr kumimoji="1" b="1">
          <a:solidFill>
            <a:srgbClr val="FFFF99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179388" y="2205038"/>
            <a:ext cx="8856662" cy="1470025"/>
          </a:xfrm>
        </p:spPr>
        <p:txBody>
          <a:bodyPr/>
          <a:lstStyle/>
          <a:p>
            <a:pPr algn="ctr"/>
            <a:r>
              <a:rPr lang="en-US" sz="4800" b="0" dirty="0">
                <a:effectLst/>
                <a:latin typeface="Broadway" pitchFamily="82" charset="0"/>
              </a:rPr>
              <a:t>CSE408</a:t>
            </a:r>
            <a:br>
              <a:rPr lang="en-US" sz="4800" b="0" dirty="0">
                <a:effectLst/>
                <a:latin typeface="Broadway" pitchFamily="82" charset="0"/>
              </a:rPr>
            </a:br>
            <a:r>
              <a:rPr lang="en-US" sz="4800" b="0" dirty="0">
                <a:effectLst/>
                <a:latin typeface="Broadway" pitchFamily="82" charset="0"/>
              </a:rPr>
              <a:t>Fundamentals of Data Structure </a:t>
            </a:r>
            <a:endParaRPr lang="en-IN" sz="4800" b="0" dirty="0">
              <a:effectLst/>
              <a:latin typeface="Broadway" pitchFamily="82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66800" y="4038600"/>
            <a:ext cx="705802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76" name="TextBox 4"/>
          <p:cNvSpPr txBox="1">
            <a:spLocks noChangeArrowheads="1"/>
          </p:cNvSpPr>
          <p:nvPr/>
        </p:nvSpPr>
        <p:spPr bwMode="auto">
          <a:xfrm>
            <a:off x="4095603" y="4724400"/>
            <a:ext cx="17703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Arial Rounded MT Bold" pitchFamily="34" charset="0"/>
              </a:rPr>
              <a:t>Lecture #2</a:t>
            </a:r>
            <a:endParaRPr lang="en-IN" dirty="0">
              <a:solidFill>
                <a:schemeClr val="bg2"/>
              </a:solidFill>
              <a:latin typeface="Arial Rounded MT Bold" pitchFamily="34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371600" y="5105400"/>
            <a:ext cx="6400800" cy="17526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30B50-4877-F138-0215-A74675ECD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>
            <a:extLst>
              <a:ext uri="{FF2B5EF4-FFF2-40B4-BE49-F238E27FC236}">
                <a16:creationId xmlns:a16="http://schemas.microsoft.com/office/drawing/2014/main" id="{05398512-AF91-CA44-27CC-3A826DC20E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151812" cy="685800"/>
          </a:xfrm>
        </p:spPr>
        <p:txBody>
          <a:bodyPr/>
          <a:lstStyle/>
          <a:p>
            <a:pPr>
              <a:defRPr/>
            </a:pPr>
            <a:r>
              <a:rPr lang="en-US" dirty="0"/>
              <a:t>Fundamental data structures</a:t>
            </a:r>
          </a:p>
        </p:txBody>
      </p:sp>
      <p:sp>
        <p:nvSpPr>
          <p:cNvPr id="315396" name="Rectangle 4">
            <a:extLst>
              <a:ext uri="{FF2B5EF4-FFF2-40B4-BE49-F238E27FC236}">
                <a16:creationId xmlns:a16="http://schemas.microsoft.com/office/drawing/2014/main" id="{7F82C9AF-C502-3A43-C68E-DAB21AB4F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1219200"/>
            <a:ext cx="4191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13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/>
            </a:pPr>
            <a:endParaRPr kumimoji="1" lang="en-US" sz="2800"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A3A9BE-02C9-2430-436F-D10B5B0A0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8810"/>
            <a:ext cx="76200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92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151812" cy="685800"/>
          </a:xfrm>
        </p:spPr>
        <p:txBody>
          <a:bodyPr/>
          <a:lstStyle/>
          <a:p>
            <a:pPr>
              <a:defRPr/>
            </a:pPr>
            <a:r>
              <a:rPr lang="en-US" dirty="0"/>
              <a:t>Fundamental data structures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95400"/>
            <a:ext cx="4267200" cy="5562600"/>
          </a:xfrm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en-US" dirty="0"/>
              <a:t> list</a:t>
            </a:r>
          </a:p>
          <a:p>
            <a:pPr lvl="1">
              <a:lnSpc>
                <a:spcPct val="130000"/>
              </a:lnSpc>
              <a:defRPr/>
            </a:pPr>
            <a:r>
              <a:rPr lang="en-US" sz="2800" dirty="0"/>
              <a:t>array</a:t>
            </a:r>
          </a:p>
          <a:p>
            <a:pPr lvl="1">
              <a:lnSpc>
                <a:spcPct val="130000"/>
              </a:lnSpc>
              <a:defRPr/>
            </a:pPr>
            <a:r>
              <a:rPr lang="en-US" sz="2800" dirty="0"/>
              <a:t>linked list</a:t>
            </a:r>
          </a:p>
          <a:p>
            <a:pPr lvl="1">
              <a:lnSpc>
                <a:spcPct val="130000"/>
              </a:lnSpc>
              <a:defRPr/>
            </a:pPr>
            <a:r>
              <a:rPr lang="en-US" sz="2800" dirty="0"/>
              <a:t>string </a:t>
            </a:r>
          </a:p>
          <a:p>
            <a:pPr>
              <a:lnSpc>
                <a:spcPct val="130000"/>
              </a:lnSpc>
              <a:defRPr/>
            </a:pPr>
            <a:r>
              <a:rPr lang="en-US" dirty="0"/>
              <a:t> stack</a:t>
            </a:r>
          </a:p>
          <a:p>
            <a:pPr>
              <a:lnSpc>
                <a:spcPct val="130000"/>
              </a:lnSpc>
              <a:defRPr/>
            </a:pPr>
            <a:r>
              <a:rPr lang="en-US" dirty="0"/>
              <a:t> queue</a:t>
            </a:r>
          </a:p>
          <a:p>
            <a:pPr>
              <a:lnSpc>
                <a:spcPct val="130000"/>
              </a:lnSpc>
              <a:defRPr/>
            </a:pPr>
            <a:r>
              <a:rPr lang="en-US" dirty="0"/>
              <a:t> priority queue/heap</a:t>
            </a:r>
          </a:p>
          <a:p>
            <a:pPr>
              <a:lnSpc>
                <a:spcPct val="130000"/>
              </a:lnSpc>
              <a:buFont typeface="Monotype Sorts" pitchFamily="2" charset="2"/>
              <a:buNone/>
              <a:defRPr/>
            </a:pPr>
            <a:br>
              <a:rPr lang="en-US" sz="2000" dirty="0"/>
            </a:br>
            <a:endParaRPr lang="en-US" sz="2000" dirty="0"/>
          </a:p>
          <a:p>
            <a:pPr>
              <a:lnSpc>
                <a:spcPct val="90000"/>
              </a:lnSpc>
              <a:defRPr/>
            </a:pPr>
            <a:endParaRPr lang="en-US" sz="1800" dirty="0"/>
          </a:p>
          <a:p>
            <a:pPr>
              <a:lnSpc>
                <a:spcPct val="90000"/>
              </a:lnSpc>
              <a:defRPr/>
            </a:pPr>
            <a:endParaRPr lang="en-US" sz="1200" dirty="0"/>
          </a:p>
        </p:txBody>
      </p:sp>
      <p:sp>
        <p:nvSpPr>
          <p:cNvPr id="315396" name="Rectangle 4"/>
          <p:cNvSpPr>
            <a:spLocks noChangeArrowheads="1"/>
          </p:cNvSpPr>
          <p:nvPr/>
        </p:nvSpPr>
        <p:spPr bwMode="auto">
          <a:xfrm>
            <a:off x="4953000" y="1219200"/>
            <a:ext cx="4191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13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/>
            </a:pPr>
            <a:r>
              <a:rPr kumimoji="1" lang="en-US" sz="2800" dirty="0">
                <a:solidFill>
                  <a:schemeClr val="bg2"/>
                </a:solidFill>
              </a:rPr>
              <a:t>graph</a:t>
            </a:r>
          </a:p>
          <a:p>
            <a:pPr marL="342900" indent="-342900" algn="l">
              <a:lnSpc>
                <a:spcPct val="13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/>
            </a:pPr>
            <a:r>
              <a:rPr kumimoji="1" lang="en-US" sz="2800" dirty="0">
                <a:solidFill>
                  <a:schemeClr val="bg2"/>
                </a:solidFill>
              </a:rPr>
              <a:t>tree and binary tree</a:t>
            </a:r>
          </a:p>
          <a:p>
            <a:pPr marL="342900" indent="-342900" algn="l">
              <a:lnSpc>
                <a:spcPct val="13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/>
            </a:pPr>
            <a:r>
              <a:rPr kumimoji="1" lang="en-US" sz="2800" dirty="0">
                <a:solidFill>
                  <a:schemeClr val="bg2"/>
                </a:solidFill>
              </a:rPr>
              <a:t>set and dictionary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588250" cy="685800"/>
          </a:xfrm>
        </p:spPr>
        <p:txBody>
          <a:bodyPr/>
          <a:lstStyle/>
          <a:p>
            <a:pPr>
              <a:defRPr/>
            </a:pPr>
            <a:r>
              <a:rPr lang="en-US" dirty="0"/>
              <a:t>Linear Data Structures</a:t>
            </a:r>
            <a:endParaRPr lang="en-CA" dirty="0"/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990599"/>
            <a:ext cx="4572000" cy="563879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1800" dirty="0"/>
              <a:t>Arrays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1800" dirty="0"/>
              <a:t>Contiguous n-items of same type accessible</a:t>
            </a:r>
          </a:p>
          <a:p>
            <a:pPr lvl="1">
              <a:lnSpc>
                <a:spcPct val="90000"/>
              </a:lnSpc>
              <a:defRPr/>
            </a:pPr>
            <a:endParaRPr lang="en-US" sz="1800" dirty="0"/>
          </a:p>
          <a:p>
            <a:pPr lvl="1">
              <a:lnSpc>
                <a:spcPct val="90000"/>
              </a:lnSpc>
              <a:defRPr/>
            </a:pPr>
            <a:endParaRPr lang="en-US" sz="1800" dirty="0"/>
          </a:p>
          <a:p>
            <a:pPr lvl="1">
              <a:lnSpc>
                <a:spcPct val="90000"/>
              </a:lnSpc>
              <a:defRPr/>
            </a:pPr>
            <a:endParaRPr lang="en-US" sz="1800" dirty="0"/>
          </a:p>
          <a:p>
            <a:pPr>
              <a:lnSpc>
                <a:spcPct val="90000"/>
              </a:lnSpc>
              <a:defRPr/>
            </a:pPr>
            <a:endParaRPr lang="en-US" sz="1800" dirty="0"/>
          </a:p>
          <a:p>
            <a:pPr>
              <a:lnSpc>
                <a:spcPct val="90000"/>
              </a:lnSpc>
              <a:defRPr/>
            </a:pPr>
            <a:endParaRPr lang="en-US" sz="1800" dirty="0"/>
          </a:p>
          <a:p>
            <a:pPr>
              <a:lnSpc>
                <a:spcPct val="90000"/>
              </a:lnSpc>
              <a:defRPr/>
            </a:pPr>
            <a:endParaRPr lang="en-US" sz="1800" dirty="0"/>
          </a:p>
          <a:p>
            <a:pPr>
              <a:lnSpc>
                <a:spcPct val="90000"/>
              </a:lnSpc>
              <a:defRPr/>
            </a:pPr>
            <a:r>
              <a:rPr lang="en-US" sz="1800" dirty="0"/>
              <a:t>Linked List</a:t>
            </a:r>
          </a:p>
          <a:p>
            <a:pPr lvl="1">
              <a:lnSpc>
                <a:spcPct val="90000"/>
              </a:lnSpc>
              <a:defRPr/>
            </a:pPr>
            <a:r>
              <a:rPr lang="en-US" sz="1800" dirty="0"/>
              <a:t>A sequential nodes connected via pointer.</a:t>
            </a:r>
          </a:p>
          <a:p>
            <a:pPr lvl="1">
              <a:lnSpc>
                <a:spcPct val="90000"/>
              </a:lnSpc>
              <a:defRPr/>
            </a:pPr>
            <a:r>
              <a:rPr lang="en-US" sz="1800" dirty="0"/>
              <a:t>Singly linked list (next pointer)</a:t>
            </a:r>
          </a:p>
          <a:p>
            <a:pPr lvl="1">
              <a:lnSpc>
                <a:spcPct val="90000"/>
              </a:lnSpc>
              <a:defRPr/>
            </a:pPr>
            <a:r>
              <a:rPr lang="en-US" sz="1800" dirty="0"/>
              <a:t>Doubly linked list (next + previous pointers)</a:t>
            </a:r>
          </a:p>
          <a:p>
            <a:pPr lvl="1">
              <a:lnSpc>
                <a:spcPct val="90000"/>
              </a:lnSpc>
              <a:defRPr/>
            </a:pPr>
            <a:endParaRPr lang="en-US" sz="1800" dirty="0"/>
          </a:p>
          <a:p>
            <a:pPr lvl="1">
              <a:lnSpc>
                <a:spcPct val="90000"/>
              </a:lnSpc>
              <a:defRPr/>
            </a:pPr>
            <a:endParaRPr lang="en-US" sz="1800" dirty="0"/>
          </a:p>
          <a:p>
            <a:pPr lvl="1">
              <a:lnSpc>
                <a:spcPct val="90000"/>
              </a:lnSpc>
              <a:defRPr/>
            </a:pPr>
            <a:endParaRPr lang="en-CA" sz="1800" dirty="0"/>
          </a:p>
        </p:txBody>
      </p:sp>
      <p:sp>
        <p:nvSpPr>
          <p:cNvPr id="290820" name="Rectangle 4"/>
          <p:cNvSpPr>
            <a:spLocks noChangeArrowheads="1"/>
          </p:cNvSpPr>
          <p:nvPr/>
        </p:nvSpPr>
        <p:spPr bwMode="auto">
          <a:xfrm>
            <a:off x="4800600" y="1121833"/>
            <a:ext cx="4343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dirty="0">
                <a:solidFill>
                  <a:schemeClr val="bg2"/>
                </a:solidFill>
                <a:latin typeface="Tahoma" pitchFamily="34" charset="0"/>
                <a:cs typeface="Times New Roman" pitchFamily="18" charset="0"/>
              </a:rPr>
              <a:t>Arrays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>
                <a:solidFill>
                  <a:schemeClr val="bg2"/>
                </a:solidFill>
                <a:latin typeface="Tahoma" pitchFamily="34" charset="0"/>
                <a:cs typeface="Times New Roman" pitchFamily="18" charset="0"/>
              </a:rPr>
              <a:t>fixed length (need preliminary reservation of memory)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>
                <a:solidFill>
                  <a:schemeClr val="bg2"/>
                </a:solidFill>
                <a:latin typeface="Tahoma" pitchFamily="34" charset="0"/>
                <a:cs typeface="Times New Roman" pitchFamily="18" charset="0"/>
              </a:rPr>
              <a:t>contiguous memory locations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>
                <a:solidFill>
                  <a:schemeClr val="bg2"/>
                </a:solidFill>
                <a:latin typeface="Tahoma" pitchFamily="34" charset="0"/>
                <a:cs typeface="Times New Roman" pitchFamily="18" charset="0"/>
              </a:rPr>
              <a:t>direct access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>
                <a:solidFill>
                  <a:schemeClr val="bg2"/>
                </a:solidFill>
                <a:latin typeface="Tahoma" pitchFamily="34" charset="0"/>
                <a:cs typeface="Times New Roman" pitchFamily="18" charset="0"/>
              </a:rPr>
              <a:t>Insert/delete</a:t>
            </a:r>
          </a:p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dirty="0">
                <a:solidFill>
                  <a:schemeClr val="bg2"/>
                </a:solidFill>
                <a:latin typeface="Tahoma" pitchFamily="34" charset="0"/>
                <a:cs typeface="Times New Roman" pitchFamily="18" charset="0"/>
              </a:rPr>
              <a:t>Linked Lists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>
                <a:solidFill>
                  <a:schemeClr val="bg2"/>
                </a:solidFill>
                <a:latin typeface="Tahoma" pitchFamily="34" charset="0"/>
                <a:cs typeface="Times New Roman" pitchFamily="18" charset="0"/>
              </a:rPr>
              <a:t>dynamic length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>
                <a:solidFill>
                  <a:schemeClr val="bg2"/>
                </a:solidFill>
                <a:latin typeface="Tahoma" pitchFamily="34" charset="0"/>
                <a:cs typeface="Times New Roman" pitchFamily="18" charset="0"/>
              </a:rPr>
              <a:t>arbitrary memory locations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>
                <a:solidFill>
                  <a:schemeClr val="bg2"/>
                </a:solidFill>
                <a:latin typeface="Tahoma" pitchFamily="34" charset="0"/>
                <a:cs typeface="Times New Roman" pitchFamily="18" charset="0"/>
              </a:rPr>
              <a:t>access by following links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800" dirty="0">
                <a:solidFill>
                  <a:schemeClr val="bg2"/>
                </a:solidFill>
                <a:latin typeface="Tahoma" pitchFamily="34" charset="0"/>
                <a:cs typeface="Times New Roman" pitchFamily="18" charset="0"/>
              </a:rPr>
              <a:t>Insert/delete</a:t>
            </a:r>
            <a:endParaRPr lang="en-CA" sz="1800" dirty="0">
              <a:solidFill>
                <a:schemeClr val="bg2"/>
              </a:solidFill>
              <a:latin typeface="Tahoma" pitchFamily="34" charset="0"/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2743200" y="5791200"/>
            <a:ext cx="2895600" cy="488950"/>
            <a:chOff x="1728" y="3792"/>
            <a:chExt cx="1824" cy="308"/>
          </a:xfrm>
        </p:grpSpPr>
        <p:grpSp>
          <p:nvGrpSpPr>
            <p:cNvPr id="3" name="Group 23"/>
            <p:cNvGrpSpPr>
              <a:grpSpLocks/>
            </p:cNvGrpSpPr>
            <p:nvPr/>
          </p:nvGrpSpPr>
          <p:grpSpPr bwMode="auto">
            <a:xfrm>
              <a:off x="1728" y="3792"/>
              <a:ext cx="1824" cy="308"/>
              <a:chOff x="1728" y="3792"/>
              <a:chExt cx="1824" cy="308"/>
            </a:xfrm>
          </p:grpSpPr>
          <p:sp>
            <p:nvSpPr>
              <p:cNvPr id="34825" name="Text Box 18"/>
              <p:cNvSpPr txBox="1">
                <a:spLocks noChangeArrowheads="1"/>
              </p:cNvSpPr>
              <p:nvPr/>
            </p:nvSpPr>
            <p:spPr bwMode="auto">
              <a:xfrm>
                <a:off x="2736" y="3792"/>
                <a:ext cx="288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/>
                  <a:t>…</a:t>
                </a:r>
              </a:p>
            </p:txBody>
          </p:sp>
          <p:grpSp>
            <p:nvGrpSpPr>
              <p:cNvPr id="4" name="Group 22"/>
              <p:cNvGrpSpPr>
                <a:grpSpLocks/>
              </p:cNvGrpSpPr>
              <p:nvPr/>
            </p:nvGrpSpPr>
            <p:grpSpPr bwMode="auto">
              <a:xfrm>
                <a:off x="1728" y="3888"/>
                <a:ext cx="1824" cy="212"/>
                <a:chOff x="1728" y="3888"/>
                <a:chExt cx="1824" cy="212"/>
              </a:xfrm>
            </p:grpSpPr>
            <p:grpSp>
              <p:nvGrpSpPr>
                <p:cNvPr id="5" name="Group 8"/>
                <p:cNvGrpSpPr>
                  <a:grpSpLocks/>
                </p:cNvGrpSpPr>
                <p:nvPr/>
              </p:nvGrpSpPr>
              <p:grpSpPr bwMode="auto">
                <a:xfrm>
                  <a:off x="1776" y="3888"/>
                  <a:ext cx="336" cy="192"/>
                  <a:chOff x="1776" y="3888"/>
                  <a:chExt cx="336" cy="192"/>
                </a:xfrm>
              </p:grpSpPr>
              <p:sp>
                <p:nvSpPr>
                  <p:cNvPr id="34840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1776" y="3888"/>
                    <a:ext cx="336" cy="192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4841" name="Line 6"/>
                  <p:cNvSpPr>
                    <a:spLocks noChangeShapeType="1"/>
                  </p:cNvSpPr>
                  <p:nvPr/>
                </p:nvSpPr>
                <p:spPr bwMode="auto">
                  <a:xfrm>
                    <a:off x="1968" y="3888"/>
                    <a:ext cx="0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" name="Group 9"/>
                <p:cNvGrpSpPr>
                  <a:grpSpLocks/>
                </p:cNvGrpSpPr>
                <p:nvPr/>
              </p:nvGrpSpPr>
              <p:grpSpPr bwMode="auto">
                <a:xfrm>
                  <a:off x="2304" y="3888"/>
                  <a:ext cx="336" cy="192"/>
                  <a:chOff x="1776" y="3888"/>
                  <a:chExt cx="336" cy="192"/>
                </a:xfrm>
              </p:grpSpPr>
              <p:sp>
                <p:nvSpPr>
                  <p:cNvPr id="34838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1776" y="3888"/>
                    <a:ext cx="336" cy="192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4839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968" y="3888"/>
                    <a:ext cx="0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" name="Group 12"/>
                <p:cNvGrpSpPr>
                  <a:grpSpLocks/>
                </p:cNvGrpSpPr>
                <p:nvPr/>
              </p:nvGrpSpPr>
              <p:grpSpPr bwMode="auto">
                <a:xfrm>
                  <a:off x="3216" y="3888"/>
                  <a:ext cx="336" cy="192"/>
                  <a:chOff x="1776" y="3888"/>
                  <a:chExt cx="336" cy="192"/>
                </a:xfrm>
              </p:grpSpPr>
              <p:sp>
                <p:nvSpPr>
                  <p:cNvPr id="34836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1776" y="3888"/>
                    <a:ext cx="336" cy="192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4837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1968" y="3888"/>
                    <a:ext cx="0" cy="19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4830" name="Line 15"/>
                <p:cNvSpPr>
                  <a:spLocks noChangeShapeType="1"/>
                </p:cNvSpPr>
                <p:nvPr/>
              </p:nvSpPr>
              <p:spPr bwMode="auto">
                <a:xfrm>
                  <a:off x="2064" y="3984"/>
                  <a:ext cx="2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31" name="Line 16"/>
                <p:cNvSpPr>
                  <a:spLocks noChangeShapeType="1"/>
                </p:cNvSpPr>
                <p:nvPr/>
              </p:nvSpPr>
              <p:spPr bwMode="auto">
                <a:xfrm>
                  <a:off x="2592" y="3984"/>
                  <a:ext cx="19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32" name="Line 17"/>
                <p:cNvSpPr>
                  <a:spLocks noChangeShapeType="1"/>
                </p:cNvSpPr>
                <p:nvPr/>
              </p:nvSpPr>
              <p:spPr bwMode="auto">
                <a:xfrm>
                  <a:off x="2976" y="3984"/>
                  <a:ext cx="2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3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728" y="3888"/>
                  <a:ext cx="336" cy="21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1600"/>
                    <a:t>a1</a:t>
                  </a:r>
                </a:p>
              </p:txBody>
            </p:sp>
            <p:sp>
              <p:nvSpPr>
                <p:cNvPr id="34835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2256" y="3888"/>
                  <a:ext cx="336" cy="21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1600" dirty="0"/>
                    <a:t>a2</a:t>
                  </a:r>
                </a:p>
              </p:txBody>
            </p:sp>
          </p:grpSp>
        </p:grpSp>
        <p:sp>
          <p:nvSpPr>
            <p:cNvPr id="34824" name="Text Box 24"/>
            <p:cNvSpPr txBox="1">
              <a:spLocks noChangeArrowheads="1"/>
            </p:cNvSpPr>
            <p:nvPr/>
          </p:nvSpPr>
          <p:spPr bwMode="auto">
            <a:xfrm>
              <a:off x="3408" y="3792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1E8551F7-336E-2BAE-3DE1-33DD5BE0B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2045208"/>
            <a:ext cx="4457700" cy="13837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98D6623-67B7-0AEC-081D-415342D86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899" y="5178340"/>
            <a:ext cx="5029201" cy="153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588250" cy="685800"/>
          </a:xfrm>
        </p:spPr>
        <p:txBody>
          <a:bodyPr/>
          <a:lstStyle/>
          <a:p>
            <a:pPr>
              <a:defRPr/>
            </a:pPr>
            <a:r>
              <a:rPr lang="en-US" sz="3200" dirty="0"/>
              <a:t>Stacks and Queues</a:t>
            </a:r>
            <a:endParaRPr lang="en-CA" sz="3200" dirty="0"/>
          </a:p>
        </p:txBody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FF9933"/>
                </a:solidFill>
              </a:rPr>
              <a:t>Stacks</a:t>
            </a:r>
          </a:p>
          <a:p>
            <a:pPr lvl="1">
              <a:defRPr/>
            </a:pPr>
            <a:r>
              <a:rPr lang="en-US" dirty="0"/>
              <a:t>A stack of plates </a:t>
            </a:r>
          </a:p>
          <a:p>
            <a:pPr lvl="2">
              <a:defRPr/>
            </a:pPr>
            <a:r>
              <a:rPr lang="en-US" sz="2000" dirty="0"/>
              <a:t>insertion/deletion can be done only at the top.</a:t>
            </a:r>
          </a:p>
          <a:p>
            <a:pPr lvl="2">
              <a:defRPr/>
            </a:pPr>
            <a:r>
              <a:rPr lang="en-US" sz="2000" dirty="0"/>
              <a:t>LIFO</a:t>
            </a:r>
          </a:p>
          <a:p>
            <a:pPr lvl="1">
              <a:defRPr/>
            </a:pPr>
            <a:r>
              <a:rPr lang="en-US" dirty="0"/>
              <a:t>Two operations (push and pop)</a:t>
            </a:r>
          </a:p>
          <a:p>
            <a:pPr>
              <a:defRPr/>
            </a:pPr>
            <a:r>
              <a:rPr lang="en-US" sz="2000" dirty="0">
                <a:solidFill>
                  <a:srgbClr val="FF9933"/>
                </a:solidFill>
              </a:rPr>
              <a:t>Queues</a:t>
            </a:r>
          </a:p>
          <a:p>
            <a:pPr lvl="1">
              <a:defRPr/>
            </a:pPr>
            <a:r>
              <a:rPr lang="en-US" dirty="0"/>
              <a:t>A queue of customers waiting for services </a:t>
            </a:r>
          </a:p>
          <a:p>
            <a:pPr lvl="2">
              <a:defRPr/>
            </a:pPr>
            <a:r>
              <a:rPr lang="en-US" sz="2000" dirty="0"/>
              <a:t>Insertion/</a:t>
            </a:r>
            <a:r>
              <a:rPr lang="en-US" sz="2000" dirty="0" err="1"/>
              <a:t>enqueue</a:t>
            </a:r>
            <a:r>
              <a:rPr lang="en-US" sz="2000" dirty="0"/>
              <a:t>  from the rear and deletion/</a:t>
            </a:r>
            <a:r>
              <a:rPr lang="en-US" sz="2000" dirty="0" err="1"/>
              <a:t>dequeue</a:t>
            </a:r>
            <a:r>
              <a:rPr lang="en-US" sz="2000" dirty="0"/>
              <a:t> from the front.</a:t>
            </a:r>
          </a:p>
          <a:p>
            <a:pPr lvl="2">
              <a:defRPr/>
            </a:pPr>
            <a:r>
              <a:rPr lang="en-US" sz="2000" dirty="0"/>
              <a:t>FIFO</a:t>
            </a:r>
          </a:p>
          <a:p>
            <a:pPr lvl="1">
              <a:defRPr/>
            </a:pPr>
            <a:r>
              <a:rPr lang="en-US" dirty="0"/>
              <a:t>Two operations (</a:t>
            </a:r>
            <a:r>
              <a:rPr lang="en-US" dirty="0" err="1"/>
              <a:t>enqueue</a:t>
            </a:r>
            <a:r>
              <a:rPr lang="en-US" dirty="0"/>
              <a:t> and </a:t>
            </a:r>
            <a:r>
              <a:rPr lang="en-US" dirty="0" err="1"/>
              <a:t>dequeue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588250" cy="685800"/>
          </a:xfrm>
        </p:spPr>
        <p:txBody>
          <a:bodyPr/>
          <a:lstStyle/>
          <a:p>
            <a:pPr>
              <a:defRPr/>
            </a:pPr>
            <a:r>
              <a:rPr lang="en-US" sz="3200" dirty="0"/>
              <a:t>Priority Queue and Heap</a:t>
            </a:r>
            <a:endParaRPr lang="en-CA" sz="3200" dirty="0"/>
          </a:p>
        </p:txBody>
      </p:sp>
      <p:sp>
        <p:nvSpPr>
          <p:cNvPr id="36868" name="Rectangle 3"/>
          <p:cNvSpPr>
            <a:spLocks noChangeArrowheads="1"/>
          </p:cNvSpPr>
          <p:nvPr/>
        </p:nvSpPr>
        <p:spPr bwMode="auto">
          <a:xfrm>
            <a:off x="609600" y="1828800"/>
            <a:ext cx="7696200" cy="3471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dirty="0">
                <a:solidFill>
                  <a:schemeClr val="bg2"/>
                </a:solidFill>
                <a:latin typeface="Tahoma" pitchFamily="34" charset="0"/>
              </a:rPr>
              <a:t>  </a:t>
            </a:r>
            <a:r>
              <a:rPr lang="en-US" sz="2800" dirty="0">
                <a:solidFill>
                  <a:schemeClr val="bg2"/>
                </a:solidFill>
                <a:latin typeface="Tahoma" pitchFamily="34" charset="0"/>
              </a:rPr>
              <a:t>Priority queues (implemented using heaps)</a:t>
            </a:r>
          </a:p>
          <a:p>
            <a:pPr lvl="1" algn="l" eaLnBrk="1" hangingPunct="1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000" dirty="0">
                <a:solidFill>
                  <a:schemeClr val="bg2"/>
                </a:solidFill>
                <a:latin typeface="Tahoma" pitchFamily="34" charset="0"/>
              </a:rPr>
              <a:t> </a:t>
            </a:r>
            <a:r>
              <a:rPr lang="en-US" dirty="0">
                <a:solidFill>
                  <a:schemeClr val="bg2"/>
                </a:solidFill>
                <a:latin typeface="Tahoma" pitchFamily="34" charset="0"/>
              </a:rPr>
              <a:t>A data structure for maintaining a set of elements, each associated with a key/priority, with the following operations</a:t>
            </a:r>
          </a:p>
          <a:p>
            <a:pPr lvl="2" algn="l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</a:pPr>
            <a:r>
              <a:rPr lang="en-US" sz="2000" dirty="0">
                <a:solidFill>
                  <a:schemeClr val="bg2"/>
                </a:solidFill>
                <a:latin typeface="Tahoma" pitchFamily="34" charset="0"/>
              </a:rPr>
              <a:t> Finding the element with the highest priority</a:t>
            </a:r>
          </a:p>
          <a:p>
            <a:pPr lvl="2" algn="l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</a:pPr>
            <a:r>
              <a:rPr lang="en-US" sz="2000" dirty="0">
                <a:solidFill>
                  <a:schemeClr val="bg2"/>
                </a:solidFill>
                <a:latin typeface="Tahoma" pitchFamily="34" charset="0"/>
              </a:rPr>
              <a:t> Deleting the element with the highest priority</a:t>
            </a:r>
          </a:p>
          <a:p>
            <a:pPr lvl="2" algn="l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</a:pPr>
            <a:r>
              <a:rPr lang="en-US" sz="2000" dirty="0">
                <a:solidFill>
                  <a:schemeClr val="bg2"/>
                </a:solidFill>
                <a:latin typeface="Tahoma" pitchFamily="34" charset="0"/>
              </a:rPr>
              <a:t> Inserting a new element</a:t>
            </a:r>
            <a:endParaRPr lang="en-US" dirty="0">
              <a:solidFill>
                <a:schemeClr val="bg2"/>
              </a:solidFill>
              <a:latin typeface="Tahoma" pitchFamily="34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dirty="0">
                <a:solidFill>
                  <a:schemeClr val="bg2"/>
                </a:solidFill>
                <a:latin typeface="Tahoma" pitchFamily="34" charset="0"/>
              </a:rPr>
              <a:t> Scheduling jobs on a shared computer</a:t>
            </a:r>
            <a:endParaRPr lang="en-CA" dirty="0">
              <a:solidFill>
                <a:schemeClr val="bg2"/>
              </a:solidFill>
              <a:latin typeface="Tahoma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7086600" y="4495800"/>
            <a:ext cx="1600200" cy="990600"/>
            <a:chOff x="4368" y="2880"/>
            <a:chExt cx="1008" cy="624"/>
          </a:xfrm>
        </p:grpSpPr>
        <p:sp>
          <p:nvSpPr>
            <p:cNvPr id="36877" name="Oval 4"/>
            <p:cNvSpPr>
              <a:spLocks noChangeArrowheads="1"/>
            </p:cNvSpPr>
            <p:nvPr/>
          </p:nvSpPr>
          <p:spPr bwMode="auto">
            <a:xfrm>
              <a:off x="4848" y="2880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dirty="0"/>
                <a:t>9</a:t>
              </a:r>
            </a:p>
          </p:txBody>
        </p:sp>
        <p:sp>
          <p:nvSpPr>
            <p:cNvPr id="36878" name="Oval 5"/>
            <p:cNvSpPr>
              <a:spLocks noChangeArrowheads="1"/>
            </p:cNvSpPr>
            <p:nvPr/>
          </p:nvSpPr>
          <p:spPr bwMode="auto">
            <a:xfrm>
              <a:off x="4512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6</a:t>
              </a:r>
            </a:p>
          </p:txBody>
        </p:sp>
        <p:sp>
          <p:nvSpPr>
            <p:cNvPr id="36879" name="Oval 6"/>
            <p:cNvSpPr>
              <a:spLocks noChangeArrowheads="1"/>
            </p:cNvSpPr>
            <p:nvPr/>
          </p:nvSpPr>
          <p:spPr bwMode="auto">
            <a:xfrm>
              <a:off x="5184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8</a:t>
              </a:r>
            </a:p>
          </p:txBody>
        </p:sp>
        <p:sp>
          <p:nvSpPr>
            <p:cNvPr id="36880" name="Oval 7"/>
            <p:cNvSpPr>
              <a:spLocks noChangeArrowheads="1"/>
            </p:cNvSpPr>
            <p:nvPr/>
          </p:nvSpPr>
          <p:spPr bwMode="auto">
            <a:xfrm>
              <a:off x="4368" y="3312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5</a:t>
              </a:r>
            </a:p>
          </p:txBody>
        </p:sp>
        <p:sp>
          <p:nvSpPr>
            <p:cNvPr id="36881" name="Oval 8"/>
            <p:cNvSpPr>
              <a:spLocks noChangeArrowheads="1"/>
            </p:cNvSpPr>
            <p:nvPr/>
          </p:nvSpPr>
          <p:spPr bwMode="auto">
            <a:xfrm>
              <a:off x="4656" y="3312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2</a:t>
              </a:r>
            </a:p>
          </p:txBody>
        </p:sp>
        <p:sp>
          <p:nvSpPr>
            <p:cNvPr id="36882" name="Oval 9"/>
            <p:cNvSpPr>
              <a:spLocks noChangeArrowheads="1"/>
            </p:cNvSpPr>
            <p:nvPr/>
          </p:nvSpPr>
          <p:spPr bwMode="auto">
            <a:xfrm>
              <a:off x="5040" y="3312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3</a:t>
              </a:r>
            </a:p>
          </p:txBody>
        </p:sp>
        <p:cxnSp>
          <p:nvCxnSpPr>
            <p:cNvPr id="36883" name="AutoShape 11"/>
            <p:cNvCxnSpPr>
              <a:cxnSpLocks noChangeShapeType="1"/>
              <a:stCxn id="36877" idx="2"/>
              <a:endCxn id="36878" idx="7"/>
            </p:cNvCxnSpPr>
            <p:nvPr/>
          </p:nvCxnSpPr>
          <p:spPr bwMode="auto">
            <a:xfrm flipH="1">
              <a:off x="4676" y="2976"/>
              <a:ext cx="172" cy="124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884" name="AutoShape 12"/>
            <p:cNvCxnSpPr>
              <a:cxnSpLocks noChangeShapeType="1"/>
              <a:stCxn id="36877" idx="6"/>
              <a:endCxn id="36879" idx="1"/>
            </p:cNvCxnSpPr>
            <p:nvPr/>
          </p:nvCxnSpPr>
          <p:spPr bwMode="auto">
            <a:xfrm>
              <a:off x="5040" y="2976"/>
              <a:ext cx="172" cy="124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885" name="AutoShape 15"/>
            <p:cNvCxnSpPr>
              <a:cxnSpLocks noChangeShapeType="1"/>
              <a:stCxn id="36878" idx="3"/>
              <a:endCxn id="36880" idx="0"/>
            </p:cNvCxnSpPr>
            <p:nvPr/>
          </p:nvCxnSpPr>
          <p:spPr bwMode="auto">
            <a:xfrm flipH="1">
              <a:off x="4464" y="3236"/>
              <a:ext cx="76" cy="76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886" name="AutoShape 16"/>
            <p:cNvCxnSpPr>
              <a:cxnSpLocks noChangeShapeType="1"/>
              <a:stCxn id="36878" idx="5"/>
              <a:endCxn id="36881" idx="0"/>
            </p:cNvCxnSpPr>
            <p:nvPr/>
          </p:nvCxnSpPr>
          <p:spPr bwMode="auto">
            <a:xfrm>
              <a:off x="4676" y="3236"/>
              <a:ext cx="76" cy="76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887" name="AutoShape 17"/>
            <p:cNvCxnSpPr>
              <a:cxnSpLocks noChangeShapeType="1"/>
              <a:stCxn id="36879" idx="3"/>
              <a:endCxn id="36882" idx="0"/>
            </p:cNvCxnSpPr>
            <p:nvPr/>
          </p:nvCxnSpPr>
          <p:spPr bwMode="auto">
            <a:xfrm flipH="1">
              <a:off x="5136" y="3236"/>
              <a:ext cx="76" cy="76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7086600" y="6019800"/>
            <a:ext cx="1828800" cy="304800"/>
            <a:chOff x="4176" y="3792"/>
            <a:chExt cx="1152" cy="192"/>
          </a:xfrm>
        </p:grpSpPr>
        <p:sp>
          <p:nvSpPr>
            <p:cNvPr id="36871" name="Rectangle 21"/>
            <p:cNvSpPr>
              <a:spLocks noChangeArrowheads="1"/>
            </p:cNvSpPr>
            <p:nvPr/>
          </p:nvSpPr>
          <p:spPr bwMode="auto">
            <a:xfrm>
              <a:off x="4176" y="3792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9</a:t>
              </a:r>
            </a:p>
          </p:txBody>
        </p:sp>
        <p:sp>
          <p:nvSpPr>
            <p:cNvPr id="36872" name="Rectangle 22"/>
            <p:cNvSpPr>
              <a:spLocks noChangeArrowheads="1"/>
            </p:cNvSpPr>
            <p:nvPr/>
          </p:nvSpPr>
          <p:spPr bwMode="auto">
            <a:xfrm>
              <a:off x="4368" y="3792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6</a:t>
              </a:r>
            </a:p>
          </p:txBody>
        </p:sp>
        <p:sp>
          <p:nvSpPr>
            <p:cNvPr id="36873" name="Rectangle 23"/>
            <p:cNvSpPr>
              <a:spLocks noChangeArrowheads="1"/>
            </p:cNvSpPr>
            <p:nvPr/>
          </p:nvSpPr>
          <p:spPr bwMode="auto">
            <a:xfrm>
              <a:off x="4752" y="3792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5</a:t>
              </a:r>
            </a:p>
          </p:txBody>
        </p:sp>
        <p:sp>
          <p:nvSpPr>
            <p:cNvPr id="36874" name="Rectangle 24"/>
            <p:cNvSpPr>
              <a:spLocks noChangeArrowheads="1"/>
            </p:cNvSpPr>
            <p:nvPr/>
          </p:nvSpPr>
          <p:spPr bwMode="auto">
            <a:xfrm>
              <a:off x="4560" y="3792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8</a:t>
              </a:r>
            </a:p>
          </p:txBody>
        </p:sp>
        <p:sp>
          <p:nvSpPr>
            <p:cNvPr id="36875" name="Rectangle 25"/>
            <p:cNvSpPr>
              <a:spLocks noChangeArrowheads="1"/>
            </p:cNvSpPr>
            <p:nvPr/>
          </p:nvSpPr>
          <p:spPr bwMode="auto">
            <a:xfrm>
              <a:off x="4944" y="3792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2</a:t>
              </a:r>
            </a:p>
          </p:txBody>
        </p:sp>
        <p:sp>
          <p:nvSpPr>
            <p:cNvPr id="36876" name="Rectangle 26"/>
            <p:cNvSpPr>
              <a:spLocks noChangeArrowheads="1"/>
            </p:cNvSpPr>
            <p:nvPr/>
          </p:nvSpPr>
          <p:spPr bwMode="auto">
            <a:xfrm>
              <a:off x="5136" y="3792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588250" cy="685800"/>
          </a:xfrm>
        </p:spPr>
        <p:txBody>
          <a:bodyPr/>
          <a:lstStyle/>
          <a:p>
            <a:pPr>
              <a:defRPr/>
            </a:pPr>
            <a:r>
              <a:rPr lang="en-US" dirty="0"/>
              <a:t>Graphs</a:t>
            </a:r>
            <a:endParaRPr lang="en-CA" dirty="0"/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Formal definition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dirty="0"/>
              <a:t>A graph </a:t>
            </a:r>
            <a:r>
              <a:rPr lang="en-US" sz="2400" i="1" dirty="0"/>
              <a:t>G = &lt;V, E&gt;</a:t>
            </a:r>
            <a:r>
              <a:rPr lang="en-US" sz="2400" dirty="0"/>
              <a:t> is defined by a pair of two sets: a finite set V of items called </a:t>
            </a:r>
            <a:r>
              <a:rPr lang="en-US" sz="2400" dirty="0">
                <a:solidFill>
                  <a:srgbClr val="FF9933"/>
                </a:solidFill>
              </a:rPr>
              <a:t>vertices</a:t>
            </a:r>
            <a:r>
              <a:rPr lang="en-US" sz="2400" dirty="0"/>
              <a:t> and a set E of vertex pairs called </a:t>
            </a:r>
            <a:r>
              <a:rPr lang="en-US" sz="2400" dirty="0">
                <a:solidFill>
                  <a:srgbClr val="FF9933"/>
                </a:solidFill>
              </a:rPr>
              <a:t>edges</a:t>
            </a:r>
            <a:r>
              <a:rPr lang="en-US" sz="2400" dirty="0"/>
              <a:t>.</a:t>
            </a:r>
          </a:p>
          <a:p>
            <a:pPr>
              <a:lnSpc>
                <a:spcPct val="90000"/>
              </a:lnSpc>
              <a:defRPr/>
            </a:pPr>
            <a:r>
              <a:rPr lang="en-US" dirty="0">
                <a:solidFill>
                  <a:srgbClr val="FF9933"/>
                </a:solidFill>
              </a:rPr>
              <a:t>Undirected </a:t>
            </a:r>
            <a:r>
              <a:rPr lang="en-US" dirty="0"/>
              <a:t>and </a:t>
            </a:r>
            <a:r>
              <a:rPr lang="en-US" dirty="0">
                <a:solidFill>
                  <a:srgbClr val="FF9933"/>
                </a:solidFill>
              </a:rPr>
              <a:t>directed</a:t>
            </a:r>
            <a:r>
              <a:rPr lang="en-US" dirty="0"/>
              <a:t> graphs (</a:t>
            </a:r>
            <a:r>
              <a:rPr lang="en-US" dirty="0">
                <a:solidFill>
                  <a:srgbClr val="FF9933"/>
                </a:solidFill>
              </a:rPr>
              <a:t>digraphs</a:t>
            </a:r>
            <a:r>
              <a:rPr lang="en-US" dirty="0"/>
              <a:t>).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What’s the maximum number of edges in an undirected graph with |V| vertices?</a:t>
            </a:r>
          </a:p>
          <a:p>
            <a:pPr>
              <a:lnSpc>
                <a:spcPct val="90000"/>
              </a:lnSpc>
              <a:defRPr/>
            </a:pPr>
            <a:r>
              <a:rPr lang="en-US" dirty="0">
                <a:solidFill>
                  <a:srgbClr val="FF9933"/>
                </a:solidFill>
              </a:rPr>
              <a:t>Complete, dense,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/>
              <a:t>and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>
                <a:solidFill>
                  <a:srgbClr val="FF9933"/>
                </a:solidFill>
              </a:rPr>
              <a:t>sparse</a:t>
            </a:r>
            <a:r>
              <a:rPr lang="en-US" dirty="0"/>
              <a:t> graphs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dirty="0"/>
              <a:t>A graph with every pair of its vertices connected by an edge is called complete, K</a:t>
            </a:r>
            <a:r>
              <a:rPr lang="en-US" sz="2400" baseline="-25000" dirty="0"/>
              <a:t>|V|</a:t>
            </a:r>
            <a:endParaRPr lang="en-CA" sz="2400" dirty="0"/>
          </a:p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2286000" y="5334000"/>
            <a:ext cx="1066800" cy="914400"/>
            <a:chOff x="1440" y="3360"/>
            <a:chExt cx="672" cy="576"/>
          </a:xfrm>
        </p:grpSpPr>
        <p:sp>
          <p:nvSpPr>
            <p:cNvPr id="37904" name="Oval 4"/>
            <p:cNvSpPr>
              <a:spLocks noChangeArrowheads="1"/>
            </p:cNvSpPr>
            <p:nvPr/>
          </p:nvSpPr>
          <p:spPr bwMode="auto">
            <a:xfrm>
              <a:off x="1440" y="3360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5" name="Oval 5"/>
            <p:cNvSpPr>
              <a:spLocks noChangeArrowheads="1"/>
            </p:cNvSpPr>
            <p:nvPr/>
          </p:nvSpPr>
          <p:spPr bwMode="auto">
            <a:xfrm>
              <a:off x="1920" y="3360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6" name="Oval 6"/>
            <p:cNvSpPr>
              <a:spLocks noChangeArrowheads="1"/>
            </p:cNvSpPr>
            <p:nvPr/>
          </p:nvSpPr>
          <p:spPr bwMode="auto">
            <a:xfrm>
              <a:off x="1440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7" name="Oval 7"/>
            <p:cNvSpPr>
              <a:spLocks noChangeArrowheads="1"/>
            </p:cNvSpPr>
            <p:nvPr/>
          </p:nvSpPr>
          <p:spPr bwMode="auto">
            <a:xfrm>
              <a:off x="1920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37908" name="AutoShape 8"/>
            <p:cNvCxnSpPr>
              <a:cxnSpLocks noChangeShapeType="1"/>
              <a:stCxn id="37904" idx="4"/>
              <a:endCxn id="37906" idx="0"/>
            </p:cNvCxnSpPr>
            <p:nvPr/>
          </p:nvCxnSpPr>
          <p:spPr bwMode="auto">
            <a:xfrm>
              <a:off x="1536" y="3552"/>
              <a:ext cx="0" cy="192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7909" name="AutoShape 9"/>
            <p:cNvCxnSpPr>
              <a:cxnSpLocks noChangeShapeType="1"/>
              <a:stCxn id="37904" idx="6"/>
              <a:endCxn id="37905" idx="2"/>
            </p:cNvCxnSpPr>
            <p:nvPr/>
          </p:nvCxnSpPr>
          <p:spPr bwMode="auto">
            <a:xfrm>
              <a:off x="1632" y="3456"/>
              <a:ext cx="288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7910" name="AutoShape 10"/>
            <p:cNvCxnSpPr>
              <a:cxnSpLocks noChangeShapeType="1"/>
              <a:stCxn id="37906" idx="6"/>
              <a:endCxn id="37907" idx="2"/>
            </p:cNvCxnSpPr>
            <p:nvPr/>
          </p:nvCxnSpPr>
          <p:spPr bwMode="auto">
            <a:xfrm>
              <a:off x="1632" y="3840"/>
              <a:ext cx="288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7911" name="AutoShape 11"/>
            <p:cNvCxnSpPr>
              <a:cxnSpLocks noChangeShapeType="1"/>
              <a:stCxn id="37905" idx="4"/>
              <a:endCxn id="37907" idx="0"/>
            </p:cNvCxnSpPr>
            <p:nvPr/>
          </p:nvCxnSpPr>
          <p:spPr bwMode="auto">
            <a:xfrm>
              <a:off x="2016" y="3552"/>
              <a:ext cx="0" cy="192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7912" name="AutoShape 12"/>
            <p:cNvCxnSpPr>
              <a:cxnSpLocks noChangeShapeType="1"/>
              <a:stCxn id="37904" idx="5"/>
              <a:endCxn id="37907" idx="1"/>
            </p:cNvCxnSpPr>
            <p:nvPr/>
          </p:nvCxnSpPr>
          <p:spPr bwMode="auto">
            <a:xfrm>
              <a:off x="1604" y="3524"/>
              <a:ext cx="344" cy="248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7913" name="AutoShape 13"/>
            <p:cNvCxnSpPr>
              <a:cxnSpLocks noChangeShapeType="1"/>
              <a:stCxn id="37905" idx="3"/>
              <a:endCxn id="37906" idx="7"/>
            </p:cNvCxnSpPr>
            <p:nvPr/>
          </p:nvCxnSpPr>
          <p:spPr bwMode="auto">
            <a:xfrm flipH="1">
              <a:off x="1604" y="3524"/>
              <a:ext cx="344" cy="248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5149850" y="5302250"/>
            <a:ext cx="1066800" cy="914400"/>
            <a:chOff x="3244" y="3340"/>
            <a:chExt cx="672" cy="576"/>
          </a:xfrm>
        </p:grpSpPr>
        <p:sp>
          <p:nvSpPr>
            <p:cNvPr id="37895" name="Oval 14"/>
            <p:cNvSpPr>
              <a:spLocks noChangeArrowheads="1"/>
            </p:cNvSpPr>
            <p:nvPr/>
          </p:nvSpPr>
          <p:spPr bwMode="auto">
            <a:xfrm>
              <a:off x="3244" y="3340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1</a:t>
              </a:r>
            </a:p>
          </p:txBody>
        </p:sp>
        <p:sp>
          <p:nvSpPr>
            <p:cNvPr id="37896" name="Oval 15"/>
            <p:cNvSpPr>
              <a:spLocks noChangeArrowheads="1"/>
            </p:cNvSpPr>
            <p:nvPr/>
          </p:nvSpPr>
          <p:spPr bwMode="auto">
            <a:xfrm>
              <a:off x="3724" y="3340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2</a:t>
              </a:r>
            </a:p>
          </p:txBody>
        </p:sp>
        <p:sp>
          <p:nvSpPr>
            <p:cNvPr id="37897" name="Oval 16"/>
            <p:cNvSpPr>
              <a:spLocks noChangeArrowheads="1"/>
            </p:cNvSpPr>
            <p:nvPr/>
          </p:nvSpPr>
          <p:spPr bwMode="auto">
            <a:xfrm>
              <a:off x="3244" y="37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3</a:t>
              </a:r>
            </a:p>
          </p:txBody>
        </p:sp>
        <p:sp>
          <p:nvSpPr>
            <p:cNvPr id="37898" name="Oval 17"/>
            <p:cNvSpPr>
              <a:spLocks noChangeArrowheads="1"/>
            </p:cNvSpPr>
            <p:nvPr/>
          </p:nvSpPr>
          <p:spPr bwMode="auto">
            <a:xfrm>
              <a:off x="3724" y="37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4</a:t>
              </a:r>
            </a:p>
          </p:txBody>
        </p:sp>
        <p:cxnSp>
          <p:nvCxnSpPr>
            <p:cNvPr id="37899" name="AutoShape 24"/>
            <p:cNvCxnSpPr>
              <a:cxnSpLocks noChangeShapeType="1"/>
              <a:stCxn id="37895" idx="4"/>
              <a:endCxn id="37897" idx="0"/>
            </p:cNvCxnSpPr>
            <p:nvPr/>
          </p:nvCxnSpPr>
          <p:spPr bwMode="auto">
            <a:xfrm>
              <a:off x="3340" y="3532"/>
              <a:ext cx="0" cy="192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37900" name="AutoShape 26"/>
            <p:cNvCxnSpPr>
              <a:cxnSpLocks noChangeShapeType="1"/>
              <a:stCxn id="37897" idx="6"/>
              <a:endCxn id="37898" idx="2"/>
            </p:cNvCxnSpPr>
            <p:nvPr/>
          </p:nvCxnSpPr>
          <p:spPr bwMode="auto">
            <a:xfrm>
              <a:off x="3436" y="3820"/>
              <a:ext cx="288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37901" name="AutoShape 27"/>
            <p:cNvCxnSpPr>
              <a:cxnSpLocks noChangeShapeType="1"/>
              <a:stCxn id="37896" idx="4"/>
              <a:endCxn id="37898" idx="0"/>
            </p:cNvCxnSpPr>
            <p:nvPr/>
          </p:nvCxnSpPr>
          <p:spPr bwMode="auto">
            <a:xfrm>
              <a:off x="3820" y="3532"/>
              <a:ext cx="0" cy="192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37902" name="AutoShape 28"/>
            <p:cNvCxnSpPr>
              <a:cxnSpLocks noChangeShapeType="1"/>
              <a:stCxn id="37895" idx="6"/>
              <a:endCxn id="37896" idx="2"/>
            </p:cNvCxnSpPr>
            <p:nvPr/>
          </p:nvCxnSpPr>
          <p:spPr bwMode="auto">
            <a:xfrm>
              <a:off x="3436" y="3436"/>
              <a:ext cx="288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37903" name="AutoShape 31"/>
            <p:cNvCxnSpPr>
              <a:cxnSpLocks noChangeShapeType="1"/>
              <a:stCxn id="37895" idx="5"/>
              <a:endCxn id="37898" idx="1"/>
            </p:cNvCxnSpPr>
            <p:nvPr/>
          </p:nvCxnSpPr>
          <p:spPr bwMode="auto">
            <a:xfrm>
              <a:off x="3408" y="3504"/>
              <a:ext cx="344" cy="248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588250" cy="685800"/>
          </a:xfrm>
        </p:spPr>
        <p:txBody>
          <a:bodyPr/>
          <a:lstStyle/>
          <a:p>
            <a:pPr>
              <a:defRPr/>
            </a:pPr>
            <a:r>
              <a:rPr lang="en-US"/>
              <a:t>Graph Representation</a:t>
            </a:r>
            <a:endParaRPr lang="en-CA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Adjacency matrix</a:t>
            </a:r>
          </a:p>
          <a:p>
            <a:pPr lvl="1">
              <a:defRPr/>
            </a:pPr>
            <a:r>
              <a:rPr lang="en-US" dirty="0"/>
              <a:t>n x n </a:t>
            </a:r>
            <a:r>
              <a:rPr lang="en-US" dirty="0" err="1"/>
              <a:t>boolean</a:t>
            </a:r>
            <a:r>
              <a:rPr lang="en-US" dirty="0"/>
              <a:t> matrix if |V| is n.</a:t>
            </a:r>
          </a:p>
          <a:p>
            <a:pPr lvl="1">
              <a:defRPr/>
            </a:pPr>
            <a:r>
              <a:rPr lang="en-US" dirty="0"/>
              <a:t>The element on the </a:t>
            </a:r>
            <a:r>
              <a:rPr lang="en-US" dirty="0" err="1"/>
              <a:t>ith</a:t>
            </a:r>
            <a:r>
              <a:rPr lang="en-US" dirty="0"/>
              <a:t> row and </a:t>
            </a:r>
            <a:r>
              <a:rPr lang="en-US" dirty="0" err="1"/>
              <a:t>jth</a:t>
            </a:r>
            <a:r>
              <a:rPr lang="en-US" dirty="0"/>
              <a:t> column is 1 if there’s an edge from </a:t>
            </a:r>
            <a:r>
              <a:rPr lang="en-US" dirty="0" err="1"/>
              <a:t>ith</a:t>
            </a:r>
            <a:r>
              <a:rPr lang="en-US" dirty="0"/>
              <a:t> vertex to the </a:t>
            </a:r>
            <a:r>
              <a:rPr lang="en-US" dirty="0" err="1"/>
              <a:t>jth</a:t>
            </a:r>
            <a:r>
              <a:rPr lang="en-US" dirty="0"/>
              <a:t> vertex; otherwise 0.</a:t>
            </a:r>
          </a:p>
          <a:p>
            <a:pPr lvl="1">
              <a:defRPr/>
            </a:pPr>
            <a:r>
              <a:rPr lang="en-US" dirty="0"/>
              <a:t>The adjacency matrix of an undirected graph is symmetric.</a:t>
            </a:r>
          </a:p>
          <a:p>
            <a:pPr>
              <a:defRPr/>
            </a:pPr>
            <a:r>
              <a:rPr lang="en-US" sz="2000" dirty="0"/>
              <a:t>Adjacency linked lists</a:t>
            </a:r>
          </a:p>
          <a:p>
            <a:pPr lvl="1">
              <a:defRPr/>
            </a:pPr>
            <a:r>
              <a:rPr lang="en-US" dirty="0"/>
              <a:t>A collection of linked lists, one for each vertex, that contain all the vertices adjacent to the list’s vertex.</a:t>
            </a:r>
            <a:endParaRPr lang="en-CA" dirty="0"/>
          </a:p>
          <a:p>
            <a:pPr>
              <a:defRPr/>
            </a:pPr>
            <a:r>
              <a:rPr lang="en-US" sz="2000" dirty="0"/>
              <a:t>Which data structure would you use if the graph is a 100-node star shape?</a:t>
            </a:r>
          </a:p>
        </p:txBody>
      </p:sp>
      <p:sp>
        <p:nvSpPr>
          <p:cNvPr id="299045" name="Text Box 37"/>
          <p:cNvSpPr txBox="1">
            <a:spLocks noChangeArrowheads="1"/>
          </p:cNvSpPr>
          <p:nvPr/>
        </p:nvSpPr>
        <p:spPr bwMode="auto">
          <a:xfrm>
            <a:off x="1981200" y="4953000"/>
            <a:ext cx="2209800" cy="17710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US" dirty="0">
                <a:solidFill>
                  <a:schemeClr val="bg2"/>
                </a:solidFill>
              </a:rPr>
              <a:t>   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US" dirty="0">
                <a:solidFill>
                  <a:schemeClr val="bg2"/>
                </a:solidFill>
              </a:rPr>
              <a:t>     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US" dirty="0">
                <a:solidFill>
                  <a:schemeClr val="bg2"/>
                </a:solidFill>
              </a:rPr>
              <a:t>0 1 1 1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US" dirty="0">
                <a:solidFill>
                  <a:schemeClr val="bg2"/>
                </a:solidFill>
              </a:rPr>
              <a:t>0 0 0 1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US" dirty="0">
                <a:solidFill>
                  <a:schemeClr val="bg2"/>
                </a:solidFill>
              </a:rPr>
              <a:t>0 0 0 1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r>
              <a:rPr lang="en-US" dirty="0">
                <a:solidFill>
                  <a:schemeClr val="bg2"/>
                </a:solidFill>
              </a:rPr>
              <a:t>0 0 0 0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endParaRPr lang="en-US" dirty="0">
              <a:solidFill>
                <a:schemeClr val="bg2"/>
              </a:solidFill>
            </a:endParaRPr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4953000" y="5334000"/>
            <a:ext cx="1905000" cy="1143000"/>
            <a:chOff x="3120" y="3360"/>
            <a:chExt cx="1200" cy="720"/>
          </a:xfrm>
        </p:grpSpPr>
        <p:sp>
          <p:nvSpPr>
            <p:cNvPr id="38919" name="Rectangle 38"/>
            <p:cNvSpPr>
              <a:spLocks noChangeArrowheads="1"/>
            </p:cNvSpPr>
            <p:nvPr/>
          </p:nvSpPr>
          <p:spPr bwMode="auto">
            <a:xfrm>
              <a:off x="3120" y="3360"/>
              <a:ext cx="144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0" name="Rectangle 39"/>
            <p:cNvSpPr>
              <a:spLocks noChangeArrowheads="1"/>
            </p:cNvSpPr>
            <p:nvPr/>
          </p:nvSpPr>
          <p:spPr bwMode="auto">
            <a:xfrm>
              <a:off x="3456" y="3360"/>
              <a:ext cx="144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2</a:t>
              </a:r>
            </a:p>
          </p:txBody>
        </p:sp>
        <p:sp>
          <p:nvSpPr>
            <p:cNvPr id="38921" name="Rectangle 40"/>
            <p:cNvSpPr>
              <a:spLocks noChangeArrowheads="1"/>
            </p:cNvSpPr>
            <p:nvPr/>
          </p:nvSpPr>
          <p:spPr bwMode="auto">
            <a:xfrm>
              <a:off x="3792" y="3360"/>
              <a:ext cx="144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3</a:t>
              </a:r>
            </a:p>
          </p:txBody>
        </p:sp>
        <p:sp>
          <p:nvSpPr>
            <p:cNvPr id="38922" name="Rectangle 41"/>
            <p:cNvSpPr>
              <a:spLocks noChangeArrowheads="1"/>
            </p:cNvSpPr>
            <p:nvPr/>
          </p:nvSpPr>
          <p:spPr bwMode="auto">
            <a:xfrm>
              <a:off x="4176" y="3360"/>
              <a:ext cx="144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4</a:t>
              </a:r>
            </a:p>
          </p:txBody>
        </p:sp>
        <p:sp>
          <p:nvSpPr>
            <p:cNvPr id="38923" name="Rectangle 42"/>
            <p:cNvSpPr>
              <a:spLocks noChangeArrowheads="1"/>
            </p:cNvSpPr>
            <p:nvPr/>
          </p:nvSpPr>
          <p:spPr bwMode="auto">
            <a:xfrm>
              <a:off x="3456" y="3552"/>
              <a:ext cx="144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4</a:t>
              </a:r>
            </a:p>
          </p:txBody>
        </p:sp>
        <p:sp>
          <p:nvSpPr>
            <p:cNvPr id="38924" name="Rectangle 43"/>
            <p:cNvSpPr>
              <a:spLocks noChangeArrowheads="1"/>
            </p:cNvSpPr>
            <p:nvPr/>
          </p:nvSpPr>
          <p:spPr bwMode="auto">
            <a:xfrm>
              <a:off x="3120" y="3552"/>
              <a:ext cx="144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5" name="Rectangle 44"/>
            <p:cNvSpPr>
              <a:spLocks noChangeArrowheads="1"/>
            </p:cNvSpPr>
            <p:nvPr/>
          </p:nvSpPr>
          <p:spPr bwMode="auto">
            <a:xfrm>
              <a:off x="3120" y="3744"/>
              <a:ext cx="144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6" name="Rectangle 45"/>
            <p:cNvSpPr>
              <a:spLocks noChangeArrowheads="1"/>
            </p:cNvSpPr>
            <p:nvPr/>
          </p:nvSpPr>
          <p:spPr bwMode="auto">
            <a:xfrm>
              <a:off x="3456" y="3744"/>
              <a:ext cx="144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4</a:t>
              </a:r>
            </a:p>
          </p:txBody>
        </p:sp>
        <p:sp>
          <p:nvSpPr>
            <p:cNvPr id="38927" name="Rectangle 46"/>
            <p:cNvSpPr>
              <a:spLocks noChangeArrowheads="1"/>
            </p:cNvSpPr>
            <p:nvPr/>
          </p:nvSpPr>
          <p:spPr bwMode="auto">
            <a:xfrm>
              <a:off x="3120" y="3936"/>
              <a:ext cx="144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38928" name="AutoShape 48"/>
            <p:cNvCxnSpPr>
              <a:cxnSpLocks noChangeShapeType="1"/>
              <a:stCxn id="38919" idx="3"/>
              <a:endCxn id="38920" idx="1"/>
            </p:cNvCxnSpPr>
            <p:nvPr/>
          </p:nvCxnSpPr>
          <p:spPr bwMode="auto">
            <a:xfrm>
              <a:off x="3264" y="3432"/>
              <a:ext cx="192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38929" name="AutoShape 49"/>
            <p:cNvCxnSpPr>
              <a:cxnSpLocks noChangeShapeType="1"/>
              <a:stCxn id="38920" idx="3"/>
              <a:endCxn id="38921" idx="1"/>
            </p:cNvCxnSpPr>
            <p:nvPr/>
          </p:nvCxnSpPr>
          <p:spPr bwMode="auto">
            <a:xfrm>
              <a:off x="3600" y="3432"/>
              <a:ext cx="192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38930" name="AutoShape 50"/>
            <p:cNvCxnSpPr>
              <a:cxnSpLocks noChangeShapeType="1"/>
              <a:stCxn id="38921" idx="3"/>
              <a:endCxn id="38922" idx="1"/>
            </p:cNvCxnSpPr>
            <p:nvPr/>
          </p:nvCxnSpPr>
          <p:spPr bwMode="auto">
            <a:xfrm>
              <a:off x="3936" y="3432"/>
              <a:ext cx="240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38931" name="AutoShape 51"/>
            <p:cNvCxnSpPr>
              <a:cxnSpLocks noChangeShapeType="1"/>
              <a:stCxn id="38924" idx="3"/>
              <a:endCxn id="38923" idx="1"/>
            </p:cNvCxnSpPr>
            <p:nvPr/>
          </p:nvCxnSpPr>
          <p:spPr bwMode="auto">
            <a:xfrm>
              <a:off x="3264" y="3624"/>
              <a:ext cx="192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38932" name="AutoShape 52"/>
            <p:cNvCxnSpPr>
              <a:cxnSpLocks noChangeShapeType="1"/>
              <a:stCxn id="38925" idx="3"/>
              <a:endCxn id="38926" idx="1"/>
            </p:cNvCxnSpPr>
            <p:nvPr/>
          </p:nvCxnSpPr>
          <p:spPr bwMode="auto">
            <a:xfrm>
              <a:off x="3264" y="3816"/>
              <a:ext cx="192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9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9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76200"/>
            <a:ext cx="7588250" cy="685800"/>
          </a:xfrm>
        </p:spPr>
        <p:txBody>
          <a:bodyPr/>
          <a:lstStyle/>
          <a:p>
            <a:pPr>
              <a:defRPr/>
            </a:pPr>
            <a:r>
              <a:rPr lang="en-US" dirty="0"/>
              <a:t>Weighted Graphs</a:t>
            </a:r>
            <a:endParaRPr lang="en-CA" dirty="0"/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9933"/>
                </a:solidFill>
              </a:rPr>
              <a:t>Weighted graphs</a:t>
            </a:r>
          </a:p>
          <a:p>
            <a:pPr lvl="1">
              <a:defRPr/>
            </a:pPr>
            <a:r>
              <a:rPr lang="en-US" sz="2400" dirty="0"/>
              <a:t>Graphs or digraphs with numbers assigned to the edges.</a:t>
            </a:r>
          </a:p>
          <a:p>
            <a:pPr>
              <a:buFont typeface="Monotype Sorts" pitchFamily="2" charset="2"/>
              <a:buNone/>
              <a:defRPr/>
            </a:pPr>
            <a:endParaRPr lang="en-CA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657600" y="3124200"/>
            <a:ext cx="1066800" cy="914400"/>
            <a:chOff x="3244" y="3340"/>
            <a:chExt cx="672" cy="576"/>
          </a:xfrm>
        </p:grpSpPr>
        <p:sp>
          <p:nvSpPr>
            <p:cNvPr id="39947" name="Oval 5"/>
            <p:cNvSpPr>
              <a:spLocks noChangeArrowheads="1"/>
            </p:cNvSpPr>
            <p:nvPr/>
          </p:nvSpPr>
          <p:spPr bwMode="auto">
            <a:xfrm>
              <a:off x="3244" y="3340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1</a:t>
              </a:r>
            </a:p>
          </p:txBody>
        </p:sp>
        <p:sp>
          <p:nvSpPr>
            <p:cNvPr id="39948" name="Oval 6"/>
            <p:cNvSpPr>
              <a:spLocks noChangeArrowheads="1"/>
            </p:cNvSpPr>
            <p:nvPr/>
          </p:nvSpPr>
          <p:spPr bwMode="auto">
            <a:xfrm>
              <a:off x="3724" y="3340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2</a:t>
              </a:r>
            </a:p>
          </p:txBody>
        </p:sp>
        <p:sp>
          <p:nvSpPr>
            <p:cNvPr id="39949" name="Oval 7"/>
            <p:cNvSpPr>
              <a:spLocks noChangeArrowheads="1"/>
            </p:cNvSpPr>
            <p:nvPr/>
          </p:nvSpPr>
          <p:spPr bwMode="auto">
            <a:xfrm>
              <a:off x="3244" y="37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3</a:t>
              </a:r>
            </a:p>
          </p:txBody>
        </p:sp>
        <p:sp>
          <p:nvSpPr>
            <p:cNvPr id="39950" name="Oval 8"/>
            <p:cNvSpPr>
              <a:spLocks noChangeArrowheads="1"/>
            </p:cNvSpPr>
            <p:nvPr/>
          </p:nvSpPr>
          <p:spPr bwMode="auto">
            <a:xfrm>
              <a:off x="3724" y="37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4</a:t>
              </a:r>
            </a:p>
          </p:txBody>
        </p:sp>
        <p:cxnSp>
          <p:nvCxnSpPr>
            <p:cNvPr id="39951" name="AutoShape 9"/>
            <p:cNvCxnSpPr>
              <a:cxnSpLocks noChangeShapeType="1"/>
              <a:stCxn id="39947" idx="4"/>
              <a:endCxn id="39949" idx="0"/>
            </p:cNvCxnSpPr>
            <p:nvPr/>
          </p:nvCxnSpPr>
          <p:spPr bwMode="auto">
            <a:xfrm>
              <a:off x="3340" y="3532"/>
              <a:ext cx="0" cy="192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39952" name="AutoShape 10"/>
            <p:cNvCxnSpPr>
              <a:cxnSpLocks noChangeShapeType="1"/>
              <a:stCxn id="39949" idx="6"/>
              <a:endCxn id="39950" idx="2"/>
            </p:cNvCxnSpPr>
            <p:nvPr/>
          </p:nvCxnSpPr>
          <p:spPr bwMode="auto">
            <a:xfrm>
              <a:off x="3436" y="3820"/>
              <a:ext cx="288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39953" name="AutoShape 11"/>
            <p:cNvCxnSpPr>
              <a:cxnSpLocks noChangeShapeType="1"/>
              <a:stCxn id="39948" idx="4"/>
              <a:endCxn id="39950" idx="0"/>
            </p:cNvCxnSpPr>
            <p:nvPr/>
          </p:nvCxnSpPr>
          <p:spPr bwMode="auto">
            <a:xfrm>
              <a:off x="3820" y="3532"/>
              <a:ext cx="0" cy="192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39954" name="AutoShape 12"/>
            <p:cNvCxnSpPr>
              <a:cxnSpLocks noChangeShapeType="1"/>
              <a:stCxn id="39947" idx="6"/>
              <a:endCxn id="39948" idx="2"/>
            </p:cNvCxnSpPr>
            <p:nvPr/>
          </p:nvCxnSpPr>
          <p:spPr bwMode="auto">
            <a:xfrm>
              <a:off x="3436" y="3436"/>
              <a:ext cx="288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39955" name="AutoShape 13"/>
            <p:cNvCxnSpPr>
              <a:cxnSpLocks noChangeShapeType="1"/>
              <a:stCxn id="39947" idx="5"/>
              <a:endCxn id="39950" idx="1"/>
            </p:cNvCxnSpPr>
            <p:nvPr/>
          </p:nvCxnSpPr>
          <p:spPr bwMode="auto">
            <a:xfrm>
              <a:off x="3408" y="3504"/>
              <a:ext cx="344" cy="248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</p:grpSp>
      <p:sp>
        <p:nvSpPr>
          <p:cNvPr id="39942" name="Text Box 14"/>
          <p:cNvSpPr txBox="1">
            <a:spLocks noChangeArrowheads="1"/>
          </p:cNvSpPr>
          <p:nvPr/>
        </p:nvSpPr>
        <p:spPr bwMode="auto">
          <a:xfrm>
            <a:off x="3505200" y="3352800"/>
            <a:ext cx="3048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39943" name="Text Box 15"/>
          <p:cNvSpPr txBox="1">
            <a:spLocks noChangeArrowheads="1"/>
          </p:cNvSpPr>
          <p:nvPr/>
        </p:nvSpPr>
        <p:spPr bwMode="auto">
          <a:xfrm>
            <a:off x="4038600" y="3870325"/>
            <a:ext cx="3048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39944" name="Text Box 16"/>
          <p:cNvSpPr txBox="1">
            <a:spLocks noChangeArrowheads="1"/>
          </p:cNvSpPr>
          <p:nvPr/>
        </p:nvSpPr>
        <p:spPr bwMode="auto">
          <a:xfrm>
            <a:off x="4038600" y="2895600"/>
            <a:ext cx="3048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39945" name="Text Box 17"/>
          <p:cNvSpPr txBox="1">
            <a:spLocks noChangeArrowheads="1"/>
          </p:cNvSpPr>
          <p:nvPr/>
        </p:nvSpPr>
        <p:spPr bwMode="auto">
          <a:xfrm>
            <a:off x="4572000" y="3352800"/>
            <a:ext cx="3048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39946" name="Text Box 18"/>
          <p:cNvSpPr txBox="1">
            <a:spLocks noChangeArrowheads="1"/>
          </p:cNvSpPr>
          <p:nvPr/>
        </p:nvSpPr>
        <p:spPr bwMode="auto">
          <a:xfrm>
            <a:off x="3962400" y="3489325"/>
            <a:ext cx="3048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2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57200"/>
            <a:ext cx="7953375" cy="1143000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Graph Properties -- Paths and Connectivity</a:t>
            </a:r>
            <a:endParaRPr lang="en-CA" sz="2800" dirty="0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382000" cy="41148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000">
                <a:solidFill>
                  <a:srgbClr val="FF9933"/>
                </a:solidFill>
              </a:rPr>
              <a:t>Paths</a:t>
            </a:r>
          </a:p>
          <a:p>
            <a:pPr lvl="1">
              <a:lnSpc>
                <a:spcPct val="90000"/>
              </a:lnSpc>
              <a:defRPr/>
            </a:pPr>
            <a:r>
              <a:rPr lang="en-US"/>
              <a:t>A path from vertex u to v of a graph G is defined as a sequence of adjacent (connected by an edge) vertices that starts with u and ends with v.</a:t>
            </a:r>
          </a:p>
          <a:p>
            <a:pPr lvl="1">
              <a:lnSpc>
                <a:spcPct val="90000"/>
              </a:lnSpc>
              <a:defRPr/>
            </a:pPr>
            <a:r>
              <a:rPr lang="en-US">
                <a:solidFill>
                  <a:srgbClr val="FF9933"/>
                </a:solidFill>
              </a:rPr>
              <a:t>Simple paths</a:t>
            </a:r>
            <a:r>
              <a:rPr lang="en-US"/>
              <a:t>: All edges of a path are distinct.</a:t>
            </a:r>
          </a:p>
          <a:p>
            <a:pPr lvl="1">
              <a:lnSpc>
                <a:spcPct val="90000"/>
              </a:lnSpc>
              <a:defRPr/>
            </a:pPr>
            <a:r>
              <a:rPr lang="en-US"/>
              <a:t>Path lengths: the number of edges, or the number of vertices – 1.</a:t>
            </a:r>
          </a:p>
          <a:p>
            <a:pPr>
              <a:lnSpc>
                <a:spcPct val="90000"/>
              </a:lnSpc>
              <a:defRPr/>
            </a:pPr>
            <a:r>
              <a:rPr lang="en-US" sz="2000">
                <a:solidFill>
                  <a:srgbClr val="FF9933"/>
                </a:solidFill>
              </a:rPr>
              <a:t>Connected graphs</a:t>
            </a:r>
          </a:p>
          <a:p>
            <a:pPr lvl="1">
              <a:lnSpc>
                <a:spcPct val="90000"/>
              </a:lnSpc>
              <a:defRPr/>
            </a:pPr>
            <a:r>
              <a:rPr lang="en-US"/>
              <a:t>A graph is said to be connected if for every pair of its vertices u and v there is a path from u to v.</a:t>
            </a:r>
          </a:p>
          <a:p>
            <a:pPr>
              <a:lnSpc>
                <a:spcPct val="90000"/>
              </a:lnSpc>
              <a:defRPr/>
            </a:pPr>
            <a:r>
              <a:rPr lang="en-US" sz="2000">
                <a:solidFill>
                  <a:srgbClr val="FF9933"/>
                </a:solidFill>
              </a:rPr>
              <a:t>Connected component</a:t>
            </a:r>
          </a:p>
          <a:p>
            <a:pPr lvl="1">
              <a:lnSpc>
                <a:spcPct val="90000"/>
              </a:lnSpc>
              <a:defRPr/>
            </a:pPr>
            <a:r>
              <a:rPr lang="en-US"/>
              <a:t>The maximum connected subgraph of a given graph.</a:t>
            </a:r>
            <a:endParaRPr lang="en-CA"/>
          </a:p>
        </p:txBody>
      </p:sp>
      <p:sp>
        <p:nvSpPr>
          <p:cNvPr id="40965" name="Oval 5"/>
          <p:cNvSpPr>
            <a:spLocks noChangeArrowheads="1"/>
          </p:cNvSpPr>
          <p:nvPr/>
        </p:nvSpPr>
        <p:spPr bwMode="auto">
          <a:xfrm>
            <a:off x="2514600" y="54864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66" name="Oval 6"/>
          <p:cNvSpPr>
            <a:spLocks noChangeArrowheads="1"/>
          </p:cNvSpPr>
          <p:nvPr/>
        </p:nvSpPr>
        <p:spPr bwMode="auto">
          <a:xfrm>
            <a:off x="3276600" y="54864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67" name="Oval 7"/>
          <p:cNvSpPr>
            <a:spLocks noChangeArrowheads="1"/>
          </p:cNvSpPr>
          <p:nvPr/>
        </p:nvSpPr>
        <p:spPr bwMode="auto">
          <a:xfrm>
            <a:off x="2514600" y="60960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68" name="Oval 8"/>
          <p:cNvSpPr>
            <a:spLocks noChangeArrowheads="1"/>
          </p:cNvSpPr>
          <p:nvPr/>
        </p:nvSpPr>
        <p:spPr bwMode="auto">
          <a:xfrm>
            <a:off x="3276600" y="60960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0969" name="AutoShape 9"/>
          <p:cNvCxnSpPr>
            <a:cxnSpLocks noChangeShapeType="1"/>
            <a:stCxn id="40965" idx="4"/>
            <a:endCxn id="40967" idx="0"/>
          </p:cNvCxnSpPr>
          <p:nvPr/>
        </p:nvCxnSpPr>
        <p:spPr bwMode="auto">
          <a:xfrm>
            <a:off x="2667000" y="5791200"/>
            <a:ext cx="0" cy="3048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40970" name="AutoShape 10"/>
          <p:cNvCxnSpPr>
            <a:cxnSpLocks noChangeShapeType="1"/>
            <a:stCxn id="40965" idx="6"/>
            <a:endCxn id="40966" idx="2"/>
          </p:cNvCxnSpPr>
          <p:nvPr/>
        </p:nvCxnSpPr>
        <p:spPr bwMode="auto">
          <a:xfrm>
            <a:off x="2819400" y="5638800"/>
            <a:ext cx="4572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40971" name="AutoShape 11"/>
          <p:cNvCxnSpPr>
            <a:cxnSpLocks noChangeShapeType="1"/>
            <a:stCxn id="40967" idx="6"/>
            <a:endCxn id="40968" idx="2"/>
          </p:cNvCxnSpPr>
          <p:nvPr/>
        </p:nvCxnSpPr>
        <p:spPr bwMode="auto">
          <a:xfrm>
            <a:off x="2819400" y="6248400"/>
            <a:ext cx="457200" cy="0"/>
          </a:xfrm>
          <a:prstGeom prst="straightConnector1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40972" name="AutoShape 12"/>
          <p:cNvCxnSpPr>
            <a:cxnSpLocks noChangeShapeType="1"/>
            <a:stCxn id="40966" idx="4"/>
            <a:endCxn id="40968" idx="0"/>
          </p:cNvCxnSpPr>
          <p:nvPr/>
        </p:nvCxnSpPr>
        <p:spPr bwMode="auto">
          <a:xfrm>
            <a:off x="3429000" y="5791200"/>
            <a:ext cx="0" cy="304800"/>
          </a:xfrm>
          <a:prstGeom prst="straightConnector1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40973" name="Oval 15"/>
          <p:cNvSpPr>
            <a:spLocks noChangeArrowheads="1"/>
          </p:cNvSpPr>
          <p:nvPr/>
        </p:nvSpPr>
        <p:spPr bwMode="auto">
          <a:xfrm>
            <a:off x="4038600" y="54864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4" name="Oval 16"/>
          <p:cNvSpPr>
            <a:spLocks noChangeArrowheads="1"/>
          </p:cNvSpPr>
          <p:nvPr/>
        </p:nvSpPr>
        <p:spPr bwMode="auto">
          <a:xfrm>
            <a:off x="4953000" y="54864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5" name="Oval 17"/>
          <p:cNvSpPr>
            <a:spLocks noChangeArrowheads="1"/>
          </p:cNvSpPr>
          <p:nvPr/>
        </p:nvSpPr>
        <p:spPr bwMode="auto">
          <a:xfrm>
            <a:off x="4953000" y="60198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6" name="Oval 18"/>
          <p:cNvSpPr>
            <a:spLocks noChangeArrowheads="1"/>
          </p:cNvSpPr>
          <p:nvPr/>
        </p:nvSpPr>
        <p:spPr bwMode="auto">
          <a:xfrm>
            <a:off x="5715000" y="60198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0977" name="AutoShape 19"/>
          <p:cNvCxnSpPr>
            <a:cxnSpLocks noChangeShapeType="1"/>
            <a:stCxn id="40966" idx="6"/>
            <a:endCxn id="40973" idx="2"/>
          </p:cNvCxnSpPr>
          <p:nvPr/>
        </p:nvCxnSpPr>
        <p:spPr bwMode="auto">
          <a:xfrm>
            <a:off x="3581400" y="5638800"/>
            <a:ext cx="4572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40978" name="AutoShape 20"/>
          <p:cNvCxnSpPr>
            <a:cxnSpLocks noChangeShapeType="1"/>
            <a:stCxn id="40974" idx="4"/>
            <a:endCxn id="40975" idx="0"/>
          </p:cNvCxnSpPr>
          <p:nvPr/>
        </p:nvCxnSpPr>
        <p:spPr bwMode="auto">
          <a:xfrm>
            <a:off x="5105400" y="5791200"/>
            <a:ext cx="0" cy="228600"/>
          </a:xfrm>
          <a:prstGeom prst="straightConnector1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40979" name="AutoShape 21"/>
          <p:cNvCxnSpPr>
            <a:cxnSpLocks noChangeShapeType="1"/>
            <a:stCxn id="40975" idx="6"/>
            <a:endCxn id="40976" idx="2"/>
          </p:cNvCxnSpPr>
          <p:nvPr/>
        </p:nvCxnSpPr>
        <p:spPr bwMode="auto">
          <a:xfrm>
            <a:off x="5257800" y="6172200"/>
            <a:ext cx="457200" cy="0"/>
          </a:xfrm>
          <a:prstGeom prst="straightConnector1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40980" name="AutoShape 22"/>
          <p:cNvCxnSpPr>
            <a:cxnSpLocks noChangeShapeType="1"/>
            <a:stCxn id="40974" idx="5"/>
            <a:endCxn id="40976" idx="1"/>
          </p:cNvCxnSpPr>
          <p:nvPr/>
        </p:nvCxnSpPr>
        <p:spPr bwMode="auto">
          <a:xfrm>
            <a:off x="5213350" y="5746750"/>
            <a:ext cx="546100" cy="317500"/>
          </a:xfrm>
          <a:prstGeom prst="straightConnector1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57200"/>
            <a:ext cx="7953375" cy="1143000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Graph Properties -- </a:t>
            </a:r>
            <a:r>
              <a:rPr lang="en-US" sz="2800" dirty="0" err="1"/>
              <a:t>Acyclicity</a:t>
            </a:r>
            <a:endParaRPr lang="en-CA" sz="2800" dirty="0"/>
          </a:p>
        </p:txBody>
      </p:sp>
      <p:sp>
        <p:nvSpPr>
          <p:cNvPr id="305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8288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FF9933"/>
                </a:solidFill>
              </a:rPr>
              <a:t>Cycle</a:t>
            </a:r>
          </a:p>
          <a:p>
            <a:pPr lvl="1">
              <a:defRPr/>
            </a:pPr>
            <a:r>
              <a:rPr lang="en-US" sz="2400"/>
              <a:t>A simple path of a positive length that starts and ends a the same vertex.</a:t>
            </a:r>
            <a:endParaRPr lang="en-CA" sz="2400"/>
          </a:p>
          <a:p>
            <a:pPr>
              <a:defRPr/>
            </a:pPr>
            <a:r>
              <a:rPr lang="en-US">
                <a:solidFill>
                  <a:srgbClr val="FF9933"/>
                </a:solidFill>
              </a:rPr>
              <a:t>Acyclic graph</a:t>
            </a:r>
          </a:p>
          <a:p>
            <a:pPr lvl="1">
              <a:defRPr/>
            </a:pPr>
            <a:r>
              <a:rPr lang="en-US" sz="2400"/>
              <a:t>A graph without cycles</a:t>
            </a:r>
          </a:p>
          <a:p>
            <a:pPr lvl="1">
              <a:defRPr/>
            </a:pPr>
            <a:r>
              <a:rPr lang="en-US" sz="2400">
                <a:solidFill>
                  <a:srgbClr val="FF9933"/>
                </a:solidFill>
              </a:rPr>
              <a:t>DAG </a:t>
            </a:r>
            <a:r>
              <a:rPr lang="en-US" sz="2400"/>
              <a:t>(Directed Acyclic Graph)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581400" y="4953000"/>
            <a:ext cx="1066800" cy="914400"/>
            <a:chOff x="3244" y="3340"/>
            <a:chExt cx="672" cy="576"/>
          </a:xfrm>
        </p:grpSpPr>
        <p:sp>
          <p:nvSpPr>
            <p:cNvPr id="41990" name="Oval 5"/>
            <p:cNvSpPr>
              <a:spLocks noChangeArrowheads="1"/>
            </p:cNvSpPr>
            <p:nvPr/>
          </p:nvSpPr>
          <p:spPr bwMode="auto">
            <a:xfrm>
              <a:off x="3244" y="3340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1</a:t>
              </a:r>
            </a:p>
          </p:txBody>
        </p:sp>
        <p:sp>
          <p:nvSpPr>
            <p:cNvPr id="41991" name="Oval 6"/>
            <p:cNvSpPr>
              <a:spLocks noChangeArrowheads="1"/>
            </p:cNvSpPr>
            <p:nvPr/>
          </p:nvSpPr>
          <p:spPr bwMode="auto">
            <a:xfrm>
              <a:off x="3724" y="3340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2</a:t>
              </a:r>
            </a:p>
          </p:txBody>
        </p:sp>
        <p:sp>
          <p:nvSpPr>
            <p:cNvPr id="41992" name="Oval 7"/>
            <p:cNvSpPr>
              <a:spLocks noChangeArrowheads="1"/>
            </p:cNvSpPr>
            <p:nvPr/>
          </p:nvSpPr>
          <p:spPr bwMode="auto">
            <a:xfrm>
              <a:off x="3244" y="37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3</a:t>
              </a:r>
            </a:p>
          </p:txBody>
        </p:sp>
        <p:sp>
          <p:nvSpPr>
            <p:cNvPr id="41993" name="Oval 8"/>
            <p:cNvSpPr>
              <a:spLocks noChangeArrowheads="1"/>
            </p:cNvSpPr>
            <p:nvPr/>
          </p:nvSpPr>
          <p:spPr bwMode="auto">
            <a:xfrm>
              <a:off x="3724" y="37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4</a:t>
              </a:r>
            </a:p>
          </p:txBody>
        </p:sp>
        <p:cxnSp>
          <p:nvCxnSpPr>
            <p:cNvPr id="41994" name="AutoShape 9"/>
            <p:cNvCxnSpPr>
              <a:cxnSpLocks noChangeShapeType="1"/>
              <a:stCxn id="41990" idx="4"/>
              <a:endCxn id="41992" idx="0"/>
            </p:cNvCxnSpPr>
            <p:nvPr/>
          </p:nvCxnSpPr>
          <p:spPr bwMode="auto">
            <a:xfrm>
              <a:off x="3340" y="3532"/>
              <a:ext cx="0" cy="192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41995" name="AutoShape 10"/>
            <p:cNvCxnSpPr>
              <a:cxnSpLocks noChangeShapeType="1"/>
              <a:stCxn id="41992" idx="6"/>
              <a:endCxn id="41993" idx="2"/>
            </p:cNvCxnSpPr>
            <p:nvPr/>
          </p:nvCxnSpPr>
          <p:spPr bwMode="auto">
            <a:xfrm>
              <a:off x="3436" y="3820"/>
              <a:ext cx="288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41996" name="AutoShape 11"/>
            <p:cNvCxnSpPr>
              <a:cxnSpLocks noChangeShapeType="1"/>
              <a:stCxn id="41991" idx="4"/>
              <a:endCxn id="41993" idx="0"/>
            </p:cNvCxnSpPr>
            <p:nvPr/>
          </p:nvCxnSpPr>
          <p:spPr bwMode="auto">
            <a:xfrm>
              <a:off x="3820" y="3532"/>
              <a:ext cx="0" cy="192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41997" name="AutoShape 12"/>
            <p:cNvCxnSpPr>
              <a:cxnSpLocks noChangeShapeType="1"/>
              <a:stCxn id="41990" idx="6"/>
              <a:endCxn id="41991" idx="2"/>
            </p:cNvCxnSpPr>
            <p:nvPr/>
          </p:nvCxnSpPr>
          <p:spPr bwMode="auto">
            <a:xfrm>
              <a:off x="3436" y="3436"/>
              <a:ext cx="288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41998" name="AutoShape 13"/>
            <p:cNvCxnSpPr>
              <a:cxnSpLocks noChangeShapeType="1"/>
              <a:stCxn id="41990" idx="5"/>
              <a:endCxn id="41993" idx="1"/>
            </p:cNvCxnSpPr>
            <p:nvPr/>
          </p:nvCxnSpPr>
          <p:spPr bwMode="auto">
            <a:xfrm>
              <a:off x="3408" y="3504"/>
              <a:ext cx="344" cy="248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7588250" cy="685800"/>
          </a:xfrm>
        </p:spPr>
        <p:txBody>
          <a:bodyPr/>
          <a:lstStyle/>
          <a:p>
            <a:pPr>
              <a:defRPr/>
            </a:pPr>
            <a:r>
              <a:rPr lang="en-US" dirty="0"/>
              <a:t>Trees</a:t>
            </a:r>
            <a:endParaRPr lang="en-CA" dirty="0"/>
          </a:p>
        </p:txBody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000"/>
              <a:t>Trees</a:t>
            </a:r>
          </a:p>
          <a:p>
            <a:pPr lvl="1">
              <a:lnSpc>
                <a:spcPct val="90000"/>
              </a:lnSpc>
              <a:defRPr/>
            </a:pPr>
            <a:r>
              <a:rPr lang="en-US"/>
              <a:t>A tree (or </a:t>
            </a:r>
            <a:r>
              <a:rPr lang="en-US">
                <a:solidFill>
                  <a:srgbClr val="FF9933"/>
                </a:solidFill>
              </a:rPr>
              <a:t>free tree</a:t>
            </a:r>
            <a:r>
              <a:rPr lang="en-US"/>
              <a:t>) is a connected acyclic graph.</a:t>
            </a:r>
          </a:p>
          <a:p>
            <a:pPr lvl="1">
              <a:lnSpc>
                <a:spcPct val="90000"/>
              </a:lnSpc>
              <a:defRPr/>
            </a:pPr>
            <a:r>
              <a:rPr lang="en-US"/>
              <a:t>Forest: a graph that has no cycles but is not necessarily connected.</a:t>
            </a:r>
            <a:endParaRPr lang="en-CA"/>
          </a:p>
          <a:p>
            <a:pPr>
              <a:lnSpc>
                <a:spcPct val="90000"/>
              </a:lnSpc>
              <a:defRPr/>
            </a:pPr>
            <a:r>
              <a:rPr lang="en-US" sz="2000"/>
              <a:t>Properties of trees</a:t>
            </a:r>
          </a:p>
          <a:p>
            <a:pPr lvl="1">
              <a:lnSpc>
                <a:spcPct val="90000"/>
              </a:lnSpc>
              <a:defRPr/>
            </a:pPr>
            <a:endParaRPr lang="en-US"/>
          </a:p>
          <a:p>
            <a:pPr lvl="1">
              <a:lnSpc>
                <a:spcPct val="90000"/>
              </a:lnSpc>
              <a:defRPr/>
            </a:pPr>
            <a:r>
              <a:rPr lang="en-US"/>
              <a:t>For every two vertices in a tree there always exists exactly one simple path from one of these vertices to the other. </a:t>
            </a:r>
            <a:r>
              <a:rPr lang="en-US">
                <a:solidFill>
                  <a:schemeClr val="hlink"/>
                </a:solidFill>
              </a:rPr>
              <a:t>Why?</a:t>
            </a:r>
          </a:p>
          <a:p>
            <a:pPr lvl="2">
              <a:lnSpc>
                <a:spcPct val="90000"/>
              </a:lnSpc>
              <a:defRPr/>
            </a:pPr>
            <a:r>
              <a:rPr lang="en-US" sz="2000">
                <a:solidFill>
                  <a:srgbClr val="FF9933"/>
                </a:solidFill>
              </a:rPr>
              <a:t>Rooted trees</a:t>
            </a:r>
            <a:r>
              <a:rPr lang="en-US" sz="2000">
                <a:solidFill>
                  <a:schemeClr val="folHlink"/>
                </a:solidFill>
              </a:rPr>
              <a:t>:</a:t>
            </a:r>
            <a:r>
              <a:rPr lang="en-US" sz="2000">
                <a:solidFill>
                  <a:schemeClr val="hlink"/>
                </a:solidFill>
              </a:rPr>
              <a:t> </a:t>
            </a:r>
            <a:r>
              <a:rPr lang="en-US" sz="2000"/>
              <a:t>The above property makes it possible to select an arbitrary vertex in a free tree and consider it as the root of the so called rooted tree.</a:t>
            </a:r>
          </a:p>
          <a:p>
            <a:pPr lvl="2">
              <a:lnSpc>
                <a:spcPct val="90000"/>
              </a:lnSpc>
              <a:defRPr/>
            </a:pPr>
            <a:r>
              <a:rPr lang="en-US" sz="2000"/>
              <a:t>Levels in a rooted tree.</a:t>
            </a:r>
          </a:p>
        </p:txBody>
      </p:sp>
      <p:sp>
        <p:nvSpPr>
          <p:cNvPr id="307204" name="Rectangle 4"/>
          <p:cNvSpPr>
            <a:spLocks noChangeArrowheads="1"/>
          </p:cNvSpPr>
          <p:nvPr/>
        </p:nvSpPr>
        <p:spPr bwMode="auto">
          <a:xfrm>
            <a:off x="685800" y="5141913"/>
            <a:ext cx="255905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>
                <a:latin typeface="Tahoma" pitchFamily="34" charset="0"/>
              </a:rPr>
              <a:t> |E| = |V| - 1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810000" y="5181600"/>
            <a:ext cx="1828800" cy="914400"/>
            <a:chOff x="3168" y="3264"/>
            <a:chExt cx="1152" cy="576"/>
          </a:xfrm>
        </p:grpSpPr>
        <p:sp>
          <p:nvSpPr>
            <p:cNvPr id="43027" name="Oval 5"/>
            <p:cNvSpPr>
              <a:spLocks noChangeArrowheads="1"/>
            </p:cNvSpPr>
            <p:nvPr/>
          </p:nvSpPr>
          <p:spPr bwMode="auto">
            <a:xfrm>
              <a:off x="3168" y="326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1</a:t>
              </a:r>
            </a:p>
          </p:txBody>
        </p:sp>
        <p:sp>
          <p:nvSpPr>
            <p:cNvPr id="43028" name="Oval 6"/>
            <p:cNvSpPr>
              <a:spLocks noChangeArrowheads="1"/>
            </p:cNvSpPr>
            <p:nvPr/>
          </p:nvSpPr>
          <p:spPr bwMode="auto">
            <a:xfrm>
              <a:off x="3648" y="326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3</a:t>
              </a:r>
            </a:p>
          </p:txBody>
        </p:sp>
        <p:sp>
          <p:nvSpPr>
            <p:cNvPr id="43029" name="Oval 7"/>
            <p:cNvSpPr>
              <a:spLocks noChangeArrowheads="1"/>
            </p:cNvSpPr>
            <p:nvPr/>
          </p:nvSpPr>
          <p:spPr bwMode="auto">
            <a:xfrm>
              <a:off x="3168" y="3648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2</a:t>
              </a:r>
            </a:p>
          </p:txBody>
        </p:sp>
        <p:sp>
          <p:nvSpPr>
            <p:cNvPr id="43030" name="Oval 8"/>
            <p:cNvSpPr>
              <a:spLocks noChangeArrowheads="1"/>
            </p:cNvSpPr>
            <p:nvPr/>
          </p:nvSpPr>
          <p:spPr bwMode="auto">
            <a:xfrm>
              <a:off x="3648" y="3648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4</a:t>
              </a:r>
            </a:p>
          </p:txBody>
        </p:sp>
        <p:cxnSp>
          <p:nvCxnSpPr>
            <p:cNvPr id="43031" name="AutoShape 9"/>
            <p:cNvCxnSpPr>
              <a:cxnSpLocks noChangeShapeType="1"/>
              <a:stCxn id="43027" idx="4"/>
              <a:endCxn id="43029" idx="0"/>
            </p:cNvCxnSpPr>
            <p:nvPr/>
          </p:nvCxnSpPr>
          <p:spPr bwMode="auto">
            <a:xfrm>
              <a:off x="3264" y="3456"/>
              <a:ext cx="0" cy="192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3032" name="AutoShape 10"/>
            <p:cNvCxnSpPr>
              <a:cxnSpLocks noChangeShapeType="1"/>
              <a:stCxn id="43027" idx="6"/>
              <a:endCxn id="43028" idx="2"/>
            </p:cNvCxnSpPr>
            <p:nvPr/>
          </p:nvCxnSpPr>
          <p:spPr bwMode="auto">
            <a:xfrm>
              <a:off x="3360" y="3360"/>
              <a:ext cx="288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3033" name="AutoShape 12"/>
            <p:cNvCxnSpPr>
              <a:cxnSpLocks noChangeShapeType="1"/>
              <a:stCxn id="43028" idx="4"/>
              <a:endCxn id="43030" idx="0"/>
            </p:cNvCxnSpPr>
            <p:nvPr/>
          </p:nvCxnSpPr>
          <p:spPr bwMode="auto">
            <a:xfrm>
              <a:off x="3744" y="3456"/>
              <a:ext cx="0" cy="192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43034" name="Oval 13"/>
            <p:cNvSpPr>
              <a:spLocks noChangeArrowheads="1"/>
            </p:cNvSpPr>
            <p:nvPr/>
          </p:nvSpPr>
          <p:spPr bwMode="auto">
            <a:xfrm>
              <a:off x="4128" y="326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/>
                <a:t>5</a:t>
              </a:r>
            </a:p>
          </p:txBody>
        </p:sp>
        <p:cxnSp>
          <p:nvCxnSpPr>
            <p:cNvPr id="43035" name="AutoShape 14"/>
            <p:cNvCxnSpPr>
              <a:cxnSpLocks noChangeShapeType="1"/>
              <a:stCxn id="43028" idx="6"/>
              <a:endCxn id="43034" idx="2"/>
            </p:cNvCxnSpPr>
            <p:nvPr/>
          </p:nvCxnSpPr>
          <p:spPr bwMode="auto">
            <a:xfrm>
              <a:off x="3840" y="3360"/>
              <a:ext cx="288" cy="0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6477000" y="4495800"/>
            <a:ext cx="1600200" cy="1828800"/>
            <a:chOff x="4080" y="2832"/>
            <a:chExt cx="1008" cy="1152"/>
          </a:xfrm>
        </p:grpSpPr>
        <p:grpSp>
          <p:nvGrpSpPr>
            <p:cNvPr id="4" name="Group 30"/>
            <p:cNvGrpSpPr>
              <a:grpSpLocks/>
            </p:cNvGrpSpPr>
            <p:nvPr/>
          </p:nvGrpSpPr>
          <p:grpSpPr bwMode="auto">
            <a:xfrm>
              <a:off x="4080" y="3120"/>
              <a:ext cx="1008" cy="864"/>
              <a:chOff x="4080" y="3072"/>
              <a:chExt cx="1008" cy="864"/>
            </a:xfrm>
          </p:grpSpPr>
          <p:sp>
            <p:nvSpPr>
              <p:cNvPr id="43018" name="Oval 17"/>
              <p:cNvSpPr>
                <a:spLocks noChangeArrowheads="1"/>
              </p:cNvSpPr>
              <p:nvPr/>
            </p:nvSpPr>
            <p:spPr bwMode="auto">
              <a:xfrm>
                <a:off x="4464" y="340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1</a:t>
                </a:r>
              </a:p>
            </p:txBody>
          </p:sp>
          <p:sp>
            <p:nvSpPr>
              <p:cNvPr id="43019" name="Oval 18"/>
              <p:cNvSpPr>
                <a:spLocks noChangeArrowheads="1"/>
              </p:cNvSpPr>
              <p:nvPr/>
            </p:nvSpPr>
            <p:spPr bwMode="auto">
              <a:xfrm>
                <a:off x="4464" y="307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3</a:t>
                </a:r>
              </a:p>
            </p:txBody>
          </p:sp>
          <p:sp>
            <p:nvSpPr>
              <p:cNvPr id="43020" name="Oval 19"/>
              <p:cNvSpPr>
                <a:spLocks noChangeArrowheads="1"/>
              </p:cNvSpPr>
              <p:nvPr/>
            </p:nvSpPr>
            <p:spPr bwMode="auto">
              <a:xfrm>
                <a:off x="4464" y="374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2</a:t>
                </a:r>
              </a:p>
            </p:txBody>
          </p:sp>
          <p:sp>
            <p:nvSpPr>
              <p:cNvPr id="43021" name="Oval 20"/>
              <p:cNvSpPr>
                <a:spLocks noChangeArrowheads="1"/>
              </p:cNvSpPr>
              <p:nvPr/>
            </p:nvSpPr>
            <p:spPr bwMode="auto">
              <a:xfrm>
                <a:off x="4080" y="340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4</a:t>
                </a:r>
              </a:p>
            </p:txBody>
          </p:sp>
          <p:sp>
            <p:nvSpPr>
              <p:cNvPr id="43022" name="Oval 24"/>
              <p:cNvSpPr>
                <a:spLocks noChangeArrowheads="1"/>
              </p:cNvSpPr>
              <p:nvPr/>
            </p:nvSpPr>
            <p:spPr bwMode="auto">
              <a:xfrm>
                <a:off x="4896" y="340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5</a:t>
                </a:r>
              </a:p>
            </p:txBody>
          </p:sp>
          <p:cxnSp>
            <p:nvCxnSpPr>
              <p:cNvPr id="43023" name="AutoShape 26"/>
              <p:cNvCxnSpPr>
                <a:cxnSpLocks noChangeShapeType="1"/>
                <a:stCxn id="43019" idx="3"/>
                <a:endCxn id="43021" idx="7"/>
              </p:cNvCxnSpPr>
              <p:nvPr/>
            </p:nvCxnSpPr>
            <p:spPr bwMode="auto">
              <a:xfrm flipH="1">
                <a:off x="4244" y="3236"/>
                <a:ext cx="248" cy="200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024" name="AutoShape 27"/>
              <p:cNvCxnSpPr>
                <a:cxnSpLocks noChangeShapeType="1"/>
                <a:stCxn id="43019" idx="4"/>
                <a:endCxn id="43018" idx="0"/>
              </p:cNvCxnSpPr>
              <p:nvPr/>
            </p:nvCxnSpPr>
            <p:spPr bwMode="auto">
              <a:xfrm>
                <a:off x="4560" y="3264"/>
                <a:ext cx="0" cy="144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025" name="AutoShape 28"/>
              <p:cNvCxnSpPr>
                <a:cxnSpLocks noChangeShapeType="1"/>
                <a:stCxn id="43019" idx="5"/>
                <a:endCxn id="43022" idx="1"/>
              </p:cNvCxnSpPr>
              <p:nvPr/>
            </p:nvCxnSpPr>
            <p:spPr bwMode="auto">
              <a:xfrm>
                <a:off x="4628" y="3236"/>
                <a:ext cx="296" cy="200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026" name="AutoShape 29"/>
              <p:cNvCxnSpPr>
                <a:cxnSpLocks noChangeShapeType="1"/>
                <a:stCxn id="43018" idx="4"/>
                <a:endCxn id="43020" idx="0"/>
              </p:cNvCxnSpPr>
              <p:nvPr/>
            </p:nvCxnSpPr>
            <p:spPr bwMode="auto">
              <a:xfrm>
                <a:off x="4560" y="3600"/>
                <a:ext cx="0" cy="144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43017" name="Text Box 31"/>
            <p:cNvSpPr txBox="1">
              <a:spLocks noChangeArrowheads="1"/>
            </p:cNvSpPr>
            <p:nvPr/>
          </p:nvSpPr>
          <p:spPr bwMode="auto">
            <a:xfrm>
              <a:off x="4080" y="2832"/>
              <a:ext cx="1008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rooted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7588250" cy="685800"/>
          </a:xfrm>
        </p:spPr>
        <p:txBody>
          <a:bodyPr/>
          <a:lstStyle/>
          <a:p>
            <a:pPr>
              <a:defRPr/>
            </a:pPr>
            <a:r>
              <a:rPr lang="en-US" dirty="0"/>
              <a:t>Rooted Trees (I)</a:t>
            </a:r>
            <a:endParaRPr lang="en-CA" dirty="0"/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7467600" cy="5029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000">
                <a:solidFill>
                  <a:srgbClr val="FF9933"/>
                </a:solidFill>
              </a:rPr>
              <a:t>Ancestors</a:t>
            </a:r>
          </a:p>
          <a:p>
            <a:pPr lvl="1">
              <a:lnSpc>
                <a:spcPct val="90000"/>
              </a:lnSpc>
              <a:defRPr/>
            </a:pPr>
            <a:r>
              <a:rPr lang="en-US"/>
              <a:t>For any vertex </a:t>
            </a:r>
            <a:r>
              <a:rPr lang="en-US" i="1"/>
              <a:t>v</a:t>
            </a:r>
            <a:r>
              <a:rPr lang="en-US"/>
              <a:t> in a tree </a:t>
            </a:r>
            <a:r>
              <a:rPr lang="en-US" i="1"/>
              <a:t>T</a:t>
            </a:r>
            <a:r>
              <a:rPr lang="en-US"/>
              <a:t>, all the vertices on the simple path from the root to that vertex are called ancestors.</a:t>
            </a:r>
          </a:p>
          <a:p>
            <a:pPr>
              <a:lnSpc>
                <a:spcPct val="90000"/>
              </a:lnSpc>
              <a:defRPr/>
            </a:pPr>
            <a:r>
              <a:rPr lang="en-US" sz="2000"/>
              <a:t> </a:t>
            </a:r>
            <a:r>
              <a:rPr lang="en-US" sz="2000">
                <a:solidFill>
                  <a:srgbClr val="FF9933"/>
                </a:solidFill>
              </a:rPr>
              <a:t>Descendants</a:t>
            </a:r>
          </a:p>
          <a:p>
            <a:pPr lvl="1">
              <a:lnSpc>
                <a:spcPct val="90000"/>
              </a:lnSpc>
              <a:defRPr/>
            </a:pPr>
            <a:r>
              <a:rPr lang="en-US"/>
              <a:t>All the vertices for which a vertex </a:t>
            </a:r>
            <a:r>
              <a:rPr lang="en-US" i="1"/>
              <a:t>v</a:t>
            </a:r>
            <a:r>
              <a:rPr lang="en-US"/>
              <a:t> is an ancestor are said to be descendants of </a:t>
            </a:r>
            <a:r>
              <a:rPr lang="en-US" i="1"/>
              <a:t>v</a:t>
            </a:r>
            <a:r>
              <a:rPr lang="en-US"/>
              <a:t>.</a:t>
            </a:r>
          </a:p>
          <a:p>
            <a:pPr>
              <a:lnSpc>
                <a:spcPct val="90000"/>
              </a:lnSpc>
              <a:defRPr/>
            </a:pPr>
            <a:r>
              <a:rPr lang="en-US" sz="2000">
                <a:solidFill>
                  <a:srgbClr val="FF9933"/>
                </a:solidFill>
              </a:rPr>
              <a:t>Parent, child</a:t>
            </a:r>
            <a:r>
              <a:rPr lang="en-US" sz="2000"/>
              <a:t> and </a:t>
            </a:r>
            <a:r>
              <a:rPr lang="en-US" sz="2000">
                <a:solidFill>
                  <a:srgbClr val="FF9933"/>
                </a:solidFill>
              </a:rPr>
              <a:t>siblings</a:t>
            </a:r>
          </a:p>
          <a:p>
            <a:pPr lvl="1">
              <a:lnSpc>
                <a:spcPct val="90000"/>
              </a:lnSpc>
              <a:defRPr/>
            </a:pPr>
            <a:r>
              <a:rPr lang="en-US"/>
              <a:t>If </a:t>
            </a:r>
            <a:r>
              <a:rPr lang="en-US" i="1"/>
              <a:t>(u, v)</a:t>
            </a:r>
            <a:r>
              <a:rPr lang="en-US"/>
              <a:t> is the last edge of the simple path from the root to vertex </a:t>
            </a:r>
            <a:r>
              <a:rPr lang="en-US" i="1"/>
              <a:t>v</a:t>
            </a:r>
            <a:r>
              <a:rPr lang="en-US"/>
              <a:t>, </a:t>
            </a:r>
            <a:r>
              <a:rPr lang="en-US" i="1"/>
              <a:t>u</a:t>
            </a:r>
            <a:r>
              <a:rPr lang="en-US"/>
              <a:t> is said to be the parent of </a:t>
            </a:r>
            <a:r>
              <a:rPr lang="en-US" i="1"/>
              <a:t>v</a:t>
            </a:r>
            <a:r>
              <a:rPr lang="en-US"/>
              <a:t> and </a:t>
            </a:r>
            <a:r>
              <a:rPr lang="en-US" i="1"/>
              <a:t>v</a:t>
            </a:r>
            <a:r>
              <a:rPr lang="en-US"/>
              <a:t> is called a child of </a:t>
            </a:r>
            <a:r>
              <a:rPr lang="en-US" i="1"/>
              <a:t>u</a:t>
            </a:r>
            <a:r>
              <a:rPr lang="en-US"/>
              <a:t>.</a:t>
            </a:r>
          </a:p>
          <a:p>
            <a:pPr lvl="1">
              <a:lnSpc>
                <a:spcPct val="90000"/>
              </a:lnSpc>
              <a:defRPr/>
            </a:pPr>
            <a:r>
              <a:rPr lang="en-US"/>
              <a:t>Vertices that have the same parent are called siblings.</a:t>
            </a:r>
          </a:p>
          <a:p>
            <a:pPr>
              <a:lnSpc>
                <a:spcPct val="90000"/>
              </a:lnSpc>
              <a:defRPr/>
            </a:pPr>
            <a:r>
              <a:rPr lang="en-US" sz="2000">
                <a:solidFill>
                  <a:srgbClr val="FF9933"/>
                </a:solidFill>
              </a:rPr>
              <a:t>Leaves</a:t>
            </a:r>
          </a:p>
          <a:p>
            <a:pPr lvl="1">
              <a:lnSpc>
                <a:spcPct val="90000"/>
              </a:lnSpc>
              <a:defRPr/>
            </a:pPr>
            <a:r>
              <a:rPr lang="en-US"/>
              <a:t>A vertex without children is called a leaf.</a:t>
            </a:r>
          </a:p>
          <a:p>
            <a:pPr>
              <a:lnSpc>
                <a:spcPct val="90000"/>
              </a:lnSpc>
              <a:defRPr/>
            </a:pPr>
            <a:r>
              <a:rPr lang="en-US" sz="2000">
                <a:solidFill>
                  <a:srgbClr val="FF9933"/>
                </a:solidFill>
              </a:rPr>
              <a:t>Subtree</a:t>
            </a:r>
          </a:p>
          <a:p>
            <a:pPr lvl="1">
              <a:lnSpc>
                <a:spcPct val="90000"/>
              </a:lnSpc>
              <a:defRPr/>
            </a:pPr>
            <a:r>
              <a:rPr lang="en-US"/>
              <a:t>A vertex </a:t>
            </a:r>
            <a:r>
              <a:rPr lang="en-US" i="1"/>
              <a:t>v</a:t>
            </a:r>
            <a:r>
              <a:rPr lang="en-US"/>
              <a:t> with all its descendants is called the subtree of </a:t>
            </a:r>
            <a:r>
              <a:rPr lang="en-US" i="1"/>
              <a:t>T</a:t>
            </a:r>
            <a:r>
              <a:rPr lang="en-US"/>
              <a:t> rooted at </a:t>
            </a:r>
            <a:r>
              <a:rPr lang="en-US" i="1"/>
              <a:t>v</a:t>
            </a:r>
            <a:r>
              <a:rPr lang="en-US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588250" cy="685800"/>
          </a:xfrm>
        </p:spPr>
        <p:txBody>
          <a:bodyPr/>
          <a:lstStyle/>
          <a:p>
            <a:pPr>
              <a:defRPr/>
            </a:pPr>
            <a:r>
              <a:rPr lang="en-US" dirty="0"/>
              <a:t>Rooted Trees (II)</a:t>
            </a:r>
            <a:endParaRPr lang="en-CA" dirty="0"/>
          </a:p>
        </p:txBody>
      </p:sp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8763000" cy="41148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FF9933"/>
                </a:solidFill>
              </a:rPr>
              <a:t>Depth</a:t>
            </a:r>
            <a:r>
              <a:rPr lang="en-US"/>
              <a:t> of a vertex</a:t>
            </a:r>
          </a:p>
          <a:p>
            <a:pPr lvl="1">
              <a:defRPr/>
            </a:pPr>
            <a:r>
              <a:rPr lang="en-US" sz="2400"/>
              <a:t>The length of the simple path from the root to the vertex.</a:t>
            </a:r>
          </a:p>
          <a:p>
            <a:pPr>
              <a:defRPr/>
            </a:pPr>
            <a:r>
              <a:rPr lang="en-US">
                <a:solidFill>
                  <a:srgbClr val="FF9933"/>
                </a:solidFill>
              </a:rPr>
              <a:t>Height</a:t>
            </a:r>
            <a:r>
              <a:rPr lang="en-US"/>
              <a:t> of a tree</a:t>
            </a:r>
          </a:p>
          <a:p>
            <a:pPr lvl="1">
              <a:defRPr/>
            </a:pPr>
            <a:r>
              <a:rPr lang="en-US" sz="2400"/>
              <a:t>The length of the longest simple path from the root to a leaf.</a:t>
            </a:r>
          </a:p>
          <a:p>
            <a:pPr>
              <a:defRPr/>
            </a:pPr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10000" y="4267200"/>
            <a:ext cx="1600200" cy="1828800"/>
            <a:chOff x="4080" y="2832"/>
            <a:chExt cx="1008" cy="115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080" y="3120"/>
              <a:ext cx="1008" cy="864"/>
              <a:chOff x="4080" y="3072"/>
              <a:chExt cx="1008" cy="864"/>
            </a:xfrm>
          </p:grpSpPr>
          <p:sp>
            <p:nvSpPr>
              <p:cNvPr id="45064" name="Oval 6"/>
              <p:cNvSpPr>
                <a:spLocks noChangeArrowheads="1"/>
              </p:cNvSpPr>
              <p:nvPr/>
            </p:nvSpPr>
            <p:spPr bwMode="auto">
              <a:xfrm>
                <a:off x="4464" y="340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1</a:t>
                </a:r>
              </a:p>
            </p:txBody>
          </p:sp>
          <p:sp>
            <p:nvSpPr>
              <p:cNvPr id="45065" name="Oval 7"/>
              <p:cNvSpPr>
                <a:spLocks noChangeArrowheads="1"/>
              </p:cNvSpPr>
              <p:nvPr/>
            </p:nvSpPr>
            <p:spPr bwMode="auto">
              <a:xfrm>
                <a:off x="4464" y="307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3</a:t>
                </a:r>
              </a:p>
            </p:txBody>
          </p:sp>
          <p:sp>
            <p:nvSpPr>
              <p:cNvPr id="45066" name="Oval 8"/>
              <p:cNvSpPr>
                <a:spLocks noChangeArrowheads="1"/>
              </p:cNvSpPr>
              <p:nvPr/>
            </p:nvSpPr>
            <p:spPr bwMode="auto">
              <a:xfrm>
                <a:off x="4464" y="374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2</a:t>
                </a:r>
              </a:p>
            </p:txBody>
          </p:sp>
          <p:sp>
            <p:nvSpPr>
              <p:cNvPr id="45067" name="Oval 9"/>
              <p:cNvSpPr>
                <a:spLocks noChangeArrowheads="1"/>
              </p:cNvSpPr>
              <p:nvPr/>
            </p:nvSpPr>
            <p:spPr bwMode="auto">
              <a:xfrm>
                <a:off x="4080" y="340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4</a:t>
                </a:r>
              </a:p>
            </p:txBody>
          </p:sp>
          <p:sp>
            <p:nvSpPr>
              <p:cNvPr id="45068" name="Oval 10"/>
              <p:cNvSpPr>
                <a:spLocks noChangeArrowheads="1"/>
              </p:cNvSpPr>
              <p:nvPr/>
            </p:nvSpPr>
            <p:spPr bwMode="auto">
              <a:xfrm>
                <a:off x="4896" y="340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5</a:t>
                </a:r>
              </a:p>
            </p:txBody>
          </p:sp>
          <p:cxnSp>
            <p:nvCxnSpPr>
              <p:cNvPr id="45069" name="AutoShape 11"/>
              <p:cNvCxnSpPr>
                <a:cxnSpLocks noChangeShapeType="1"/>
                <a:stCxn id="45065" idx="3"/>
                <a:endCxn id="45067" idx="7"/>
              </p:cNvCxnSpPr>
              <p:nvPr/>
            </p:nvCxnSpPr>
            <p:spPr bwMode="auto">
              <a:xfrm flipH="1">
                <a:off x="4244" y="3236"/>
                <a:ext cx="248" cy="200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070" name="AutoShape 12"/>
              <p:cNvCxnSpPr>
                <a:cxnSpLocks noChangeShapeType="1"/>
                <a:stCxn id="45065" idx="4"/>
                <a:endCxn id="45064" idx="0"/>
              </p:cNvCxnSpPr>
              <p:nvPr/>
            </p:nvCxnSpPr>
            <p:spPr bwMode="auto">
              <a:xfrm>
                <a:off x="4560" y="3264"/>
                <a:ext cx="0" cy="144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071" name="AutoShape 13"/>
              <p:cNvCxnSpPr>
                <a:cxnSpLocks noChangeShapeType="1"/>
                <a:stCxn id="45065" idx="5"/>
                <a:endCxn id="45068" idx="1"/>
              </p:cNvCxnSpPr>
              <p:nvPr/>
            </p:nvCxnSpPr>
            <p:spPr bwMode="auto">
              <a:xfrm>
                <a:off x="4628" y="3236"/>
                <a:ext cx="296" cy="200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072" name="AutoShape 14"/>
              <p:cNvCxnSpPr>
                <a:cxnSpLocks noChangeShapeType="1"/>
                <a:stCxn id="45064" idx="4"/>
                <a:endCxn id="45066" idx="0"/>
              </p:cNvCxnSpPr>
              <p:nvPr/>
            </p:nvCxnSpPr>
            <p:spPr bwMode="auto">
              <a:xfrm>
                <a:off x="4560" y="3600"/>
                <a:ext cx="0" cy="144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45063" name="Text Box 15"/>
            <p:cNvSpPr txBox="1">
              <a:spLocks noChangeArrowheads="1"/>
            </p:cNvSpPr>
            <p:nvPr/>
          </p:nvSpPr>
          <p:spPr bwMode="auto">
            <a:xfrm>
              <a:off x="4080" y="2832"/>
              <a:ext cx="1008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h = 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7588250" cy="685800"/>
          </a:xfrm>
        </p:spPr>
        <p:txBody>
          <a:bodyPr/>
          <a:lstStyle/>
          <a:p>
            <a:pPr>
              <a:defRPr/>
            </a:pPr>
            <a:r>
              <a:rPr lang="en-US" dirty="0"/>
              <a:t>Ordered Trees</a:t>
            </a:r>
            <a:endParaRPr lang="en-CA" dirty="0"/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382000" cy="41148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000" dirty="0"/>
              <a:t>Ordered trees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An ordered tree is a rooted tree in which all the children of each vertex are ordered.</a:t>
            </a:r>
          </a:p>
          <a:p>
            <a:pPr>
              <a:lnSpc>
                <a:spcPct val="90000"/>
              </a:lnSpc>
              <a:defRPr/>
            </a:pPr>
            <a:r>
              <a:rPr lang="en-US" sz="2000" dirty="0">
                <a:solidFill>
                  <a:srgbClr val="FF9933"/>
                </a:solidFill>
              </a:rPr>
              <a:t>Binary trees</a:t>
            </a: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sz="2000" dirty="0"/>
              <a:t>      Tree with max two ordered children.</a:t>
            </a:r>
          </a:p>
          <a:p>
            <a:pPr>
              <a:lnSpc>
                <a:spcPct val="90000"/>
              </a:lnSpc>
              <a:defRPr/>
            </a:pPr>
            <a:endParaRPr lang="en-US" sz="2000" dirty="0">
              <a:solidFill>
                <a:srgbClr val="FF9933"/>
              </a:solidFill>
            </a:endParaRPr>
          </a:p>
          <a:p>
            <a:pPr>
              <a:lnSpc>
                <a:spcPct val="90000"/>
              </a:lnSpc>
              <a:defRPr/>
            </a:pPr>
            <a:r>
              <a:rPr lang="en-US" sz="2000" dirty="0">
                <a:solidFill>
                  <a:srgbClr val="FF9933"/>
                </a:solidFill>
              </a:rPr>
              <a:t>Binary search trees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Each vertex is assigned a number.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A number assigned to each parental vertex is larger than all the numbers in its left subtree and smaller than all the numbers in its right subtree.</a:t>
            </a:r>
          </a:p>
          <a:p>
            <a:pPr>
              <a:lnSpc>
                <a:spcPct val="90000"/>
              </a:lnSpc>
              <a:defRPr/>
            </a:pPr>
            <a:r>
              <a:rPr lang="en-US" sz="2000" dirty="0">
                <a:solidFill>
                  <a:srgbClr val="FF6600"/>
                </a:solidFill>
                <a:sym typeface="Symbol" pitchFamily="18" charset="2"/>
              </a:rPr>
              <a:t>log</a:t>
            </a:r>
            <a:r>
              <a:rPr lang="en-US" sz="2000" baseline="-25000" dirty="0">
                <a:solidFill>
                  <a:srgbClr val="FF6600"/>
                </a:solidFill>
                <a:sym typeface="Symbol" pitchFamily="18" charset="2"/>
              </a:rPr>
              <a:t>2</a:t>
            </a:r>
            <a:r>
              <a:rPr lang="en-US" sz="2000" dirty="0">
                <a:solidFill>
                  <a:srgbClr val="FF6600"/>
                </a:solidFill>
                <a:sym typeface="Symbol" pitchFamily="18" charset="2"/>
              </a:rPr>
              <a:t>n  h  n – 1</a:t>
            </a:r>
            <a:r>
              <a:rPr lang="en-US" sz="2000" dirty="0">
                <a:sym typeface="Symbol" pitchFamily="18" charset="2"/>
              </a:rPr>
              <a:t>, where h is the height of a binary tree and n the size.</a:t>
            </a:r>
            <a:endParaRPr lang="en-CA" sz="2000" dirty="0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2590800" y="5410200"/>
            <a:ext cx="4038600" cy="990600"/>
            <a:chOff x="1632" y="3408"/>
            <a:chExt cx="2544" cy="624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632" y="3408"/>
              <a:ext cx="1008" cy="624"/>
              <a:chOff x="4368" y="2880"/>
              <a:chExt cx="1008" cy="624"/>
            </a:xfrm>
          </p:grpSpPr>
          <p:sp>
            <p:nvSpPr>
              <p:cNvPr id="46099" name="Oval 5"/>
              <p:cNvSpPr>
                <a:spLocks noChangeArrowheads="1"/>
              </p:cNvSpPr>
              <p:nvPr/>
            </p:nvSpPr>
            <p:spPr bwMode="auto">
              <a:xfrm>
                <a:off x="4848" y="2880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9</a:t>
                </a:r>
              </a:p>
            </p:txBody>
          </p:sp>
          <p:sp>
            <p:nvSpPr>
              <p:cNvPr id="46100" name="Oval 6"/>
              <p:cNvSpPr>
                <a:spLocks noChangeArrowheads="1"/>
              </p:cNvSpPr>
              <p:nvPr/>
            </p:nvSpPr>
            <p:spPr bwMode="auto">
              <a:xfrm>
                <a:off x="4512" y="307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6</a:t>
                </a:r>
              </a:p>
            </p:txBody>
          </p:sp>
          <p:sp>
            <p:nvSpPr>
              <p:cNvPr id="46101" name="Oval 7"/>
              <p:cNvSpPr>
                <a:spLocks noChangeArrowheads="1"/>
              </p:cNvSpPr>
              <p:nvPr/>
            </p:nvSpPr>
            <p:spPr bwMode="auto">
              <a:xfrm>
                <a:off x="5184" y="307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8</a:t>
                </a:r>
              </a:p>
            </p:txBody>
          </p:sp>
          <p:sp>
            <p:nvSpPr>
              <p:cNvPr id="46102" name="Oval 8"/>
              <p:cNvSpPr>
                <a:spLocks noChangeArrowheads="1"/>
              </p:cNvSpPr>
              <p:nvPr/>
            </p:nvSpPr>
            <p:spPr bwMode="auto">
              <a:xfrm>
                <a:off x="4368" y="331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46103" name="Oval 9"/>
              <p:cNvSpPr>
                <a:spLocks noChangeArrowheads="1"/>
              </p:cNvSpPr>
              <p:nvPr/>
            </p:nvSpPr>
            <p:spPr bwMode="auto">
              <a:xfrm>
                <a:off x="4656" y="331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2</a:t>
                </a:r>
              </a:p>
            </p:txBody>
          </p:sp>
          <p:sp>
            <p:nvSpPr>
              <p:cNvPr id="46104" name="Oval 10"/>
              <p:cNvSpPr>
                <a:spLocks noChangeArrowheads="1"/>
              </p:cNvSpPr>
              <p:nvPr/>
            </p:nvSpPr>
            <p:spPr bwMode="auto">
              <a:xfrm>
                <a:off x="5040" y="331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3</a:t>
                </a:r>
              </a:p>
            </p:txBody>
          </p:sp>
          <p:cxnSp>
            <p:nvCxnSpPr>
              <p:cNvPr id="46105" name="AutoShape 11"/>
              <p:cNvCxnSpPr>
                <a:cxnSpLocks noChangeShapeType="1"/>
                <a:stCxn id="46099" idx="2"/>
                <a:endCxn id="46100" idx="7"/>
              </p:cNvCxnSpPr>
              <p:nvPr/>
            </p:nvCxnSpPr>
            <p:spPr bwMode="auto">
              <a:xfrm flipH="1">
                <a:off x="4676" y="2976"/>
                <a:ext cx="172" cy="124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106" name="AutoShape 12"/>
              <p:cNvCxnSpPr>
                <a:cxnSpLocks noChangeShapeType="1"/>
                <a:stCxn id="46099" idx="6"/>
                <a:endCxn id="46101" idx="1"/>
              </p:cNvCxnSpPr>
              <p:nvPr/>
            </p:nvCxnSpPr>
            <p:spPr bwMode="auto">
              <a:xfrm>
                <a:off x="5040" y="2976"/>
                <a:ext cx="172" cy="124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107" name="AutoShape 13"/>
              <p:cNvCxnSpPr>
                <a:cxnSpLocks noChangeShapeType="1"/>
                <a:stCxn id="46100" idx="3"/>
                <a:endCxn id="46102" idx="0"/>
              </p:cNvCxnSpPr>
              <p:nvPr/>
            </p:nvCxnSpPr>
            <p:spPr bwMode="auto">
              <a:xfrm flipH="1">
                <a:off x="4464" y="3236"/>
                <a:ext cx="76" cy="76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108" name="AutoShape 14"/>
              <p:cNvCxnSpPr>
                <a:cxnSpLocks noChangeShapeType="1"/>
                <a:stCxn id="46100" idx="5"/>
                <a:endCxn id="46103" idx="0"/>
              </p:cNvCxnSpPr>
              <p:nvPr/>
            </p:nvCxnSpPr>
            <p:spPr bwMode="auto">
              <a:xfrm>
                <a:off x="4676" y="3236"/>
                <a:ext cx="76" cy="76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109" name="AutoShape 15"/>
              <p:cNvCxnSpPr>
                <a:cxnSpLocks noChangeShapeType="1"/>
                <a:stCxn id="46101" idx="3"/>
                <a:endCxn id="46104" idx="0"/>
              </p:cNvCxnSpPr>
              <p:nvPr/>
            </p:nvCxnSpPr>
            <p:spPr bwMode="auto">
              <a:xfrm flipH="1">
                <a:off x="5136" y="3236"/>
                <a:ext cx="76" cy="76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" name="Group 16"/>
            <p:cNvGrpSpPr>
              <a:grpSpLocks/>
            </p:cNvGrpSpPr>
            <p:nvPr/>
          </p:nvGrpSpPr>
          <p:grpSpPr bwMode="auto">
            <a:xfrm>
              <a:off x="3168" y="3408"/>
              <a:ext cx="1008" cy="624"/>
              <a:chOff x="4368" y="2880"/>
              <a:chExt cx="1008" cy="624"/>
            </a:xfrm>
          </p:grpSpPr>
          <p:sp>
            <p:nvSpPr>
              <p:cNvPr id="46088" name="Oval 17"/>
              <p:cNvSpPr>
                <a:spLocks noChangeArrowheads="1"/>
              </p:cNvSpPr>
              <p:nvPr/>
            </p:nvSpPr>
            <p:spPr bwMode="auto">
              <a:xfrm>
                <a:off x="4848" y="2880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6</a:t>
                </a:r>
              </a:p>
            </p:txBody>
          </p:sp>
          <p:sp>
            <p:nvSpPr>
              <p:cNvPr id="46089" name="Oval 18"/>
              <p:cNvSpPr>
                <a:spLocks noChangeArrowheads="1"/>
              </p:cNvSpPr>
              <p:nvPr/>
            </p:nvSpPr>
            <p:spPr bwMode="auto">
              <a:xfrm>
                <a:off x="4512" y="307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3</a:t>
                </a:r>
              </a:p>
            </p:txBody>
          </p:sp>
          <p:sp>
            <p:nvSpPr>
              <p:cNvPr id="46090" name="Oval 19"/>
              <p:cNvSpPr>
                <a:spLocks noChangeArrowheads="1"/>
              </p:cNvSpPr>
              <p:nvPr/>
            </p:nvSpPr>
            <p:spPr bwMode="auto">
              <a:xfrm>
                <a:off x="5184" y="307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9</a:t>
                </a:r>
              </a:p>
            </p:txBody>
          </p:sp>
          <p:sp>
            <p:nvSpPr>
              <p:cNvPr id="46091" name="Oval 20"/>
              <p:cNvSpPr>
                <a:spLocks noChangeArrowheads="1"/>
              </p:cNvSpPr>
              <p:nvPr/>
            </p:nvSpPr>
            <p:spPr bwMode="auto">
              <a:xfrm>
                <a:off x="4368" y="331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2</a:t>
                </a:r>
              </a:p>
            </p:txBody>
          </p:sp>
          <p:sp>
            <p:nvSpPr>
              <p:cNvPr id="46092" name="Oval 21"/>
              <p:cNvSpPr>
                <a:spLocks noChangeArrowheads="1"/>
              </p:cNvSpPr>
              <p:nvPr/>
            </p:nvSpPr>
            <p:spPr bwMode="auto">
              <a:xfrm>
                <a:off x="4656" y="331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46093" name="Oval 22"/>
              <p:cNvSpPr>
                <a:spLocks noChangeArrowheads="1"/>
              </p:cNvSpPr>
              <p:nvPr/>
            </p:nvSpPr>
            <p:spPr bwMode="auto">
              <a:xfrm>
                <a:off x="5040" y="331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r>
                  <a:rPr lang="en-US"/>
                  <a:t>8</a:t>
                </a:r>
              </a:p>
            </p:txBody>
          </p:sp>
          <p:cxnSp>
            <p:nvCxnSpPr>
              <p:cNvPr id="46094" name="AutoShape 23"/>
              <p:cNvCxnSpPr>
                <a:cxnSpLocks noChangeShapeType="1"/>
                <a:stCxn id="46088" idx="2"/>
                <a:endCxn id="46089" idx="7"/>
              </p:cNvCxnSpPr>
              <p:nvPr/>
            </p:nvCxnSpPr>
            <p:spPr bwMode="auto">
              <a:xfrm flipH="1">
                <a:off x="4676" y="2976"/>
                <a:ext cx="172" cy="124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095" name="AutoShape 24"/>
              <p:cNvCxnSpPr>
                <a:cxnSpLocks noChangeShapeType="1"/>
                <a:stCxn id="46088" idx="6"/>
                <a:endCxn id="46090" idx="1"/>
              </p:cNvCxnSpPr>
              <p:nvPr/>
            </p:nvCxnSpPr>
            <p:spPr bwMode="auto">
              <a:xfrm>
                <a:off x="5040" y="2976"/>
                <a:ext cx="172" cy="124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096" name="AutoShape 25"/>
              <p:cNvCxnSpPr>
                <a:cxnSpLocks noChangeShapeType="1"/>
                <a:stCxn id="46089" idx="3"/>
                <a:endCxn id="46091" idx="0"/>
              </p:cNvCxnSpPr>
              <p:nvPr/>
            </p:nvCxnSpPr>
            <p:spPr bwMode="auto">
              <a:xfrm flipH="1">
                <a:off x="4464" y="3236"/>
                <a:ext cx="76" cy="76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097" name="AutoShape 26"/>
              <p:cNvCxnSpPr>
                <a:cxnSpLocks noChangeShapeType="1"/>
                <a:stCxn id="46089" idx="5"/>
                <a:endCxn id="46092" idx="0"/>
              </p:cNvCxnSpPr>
              <p:nvPr/>
            </p:nvCxnSpPr>
            <p:spPr bwMode="auto">
              <a:xfrm>
                <a:off x="4676" y="3236"/>
                <a:ext cx="76" cy="76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098" name="AutoShape 27"/>
              <p:cNvCxnSpPr>
                <a:cxnSpLocks noChangeShapeType="1"/>
                <a:stCxn id="46090" idx="3"/>
                <a:endCxn id="46093" idx="0"/>
              </p:cNvCxnSpPr>
              <p:nvPr/>
            </p:nvCxnSpPr>
            <p:spPr bwMode="auto">
              <a:xfrm flipH="1">
                <a:off x="5136" y="3236"/>
                <a:ext cx="76" cy="76"/>
              </a:xfrm>
              <a:prstGeom prst="straightConnector1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rot="20871759">
            <a:off x="2068879" y="2967335"/>
            <a:ext cx="454502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5400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Thank You 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1">
  <a:themeElements>
    <a:clrScheme name="">
      <a:dk1>
        <a:srgbClr val="001932"/>
      </a:dk1>
      <a:lt1>
        <a:srgbClr val="FFFFFF"/>
      </a:lt1>
      <a:dk2>
        <a:srgbClr val="2181B7"/>
      </a:dk2>
      <a:lt2>
        <a:srgbClr val="CCFFFF"/>
      </a:lt2>
      <a:accent1>
        <a:srgbClr val="99FFCC"/>
      </a:accent1>
      <a:accent2>
        <a:srgbClr val="01B0FF"/>
      </a:accent2>
      <a:accent3>
        <a:srgbClr val="ABC1D8"/>
      </a:accent3>
      <a:accent4>
        <a:srgbClr val="DADADA"/>
      </a:accent4>
      <a:accent5>
        <a:srgbClr val="CAFFE2"/>
      </a:accent5>
      <a:accent6>
        <a:srgbClr val="019FE7"/>
      </a:accent6>
      <a:hlink>
        <a:srgbClr val="FFFF99"/>
      </a:hlink>
      <a:folHlink>
        <a:srgbClr val="1C6D9A"/>
      </a:folHlink>
    </a:clrScheme>
    <a:fontScheme name="CS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FF0000"/>
          </a:solidFill>
          <a:prstDash val="solid"/>
          <a:round/>
          <a:headEnd type="none" w="sm" len="sm"/>
          <a:tailEnd type="triangl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FF0000"/>
          </a:solidFill>
          <a:prstDash val="solid"/>
          <a:round/>
          <a:headEnd type="none" w="sm" len="sm"/>
          <a:tailEnd type="triangl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S1 1">
        <a:dk1>
          <a:srgbClr val="001932"/>
        </a:dk1>
        <a:lt1>
          <a:srgbClr val="FFFFFF"/>
        </a:lt1>
        <a:dk2>
          <a:srgbClr val="2181B7"/>
        </a:dk2>
        <a:lt2>
          <a:srgbClr val="CCFFFF"/>
        </a:lt2>
        <a:accent1>
          <a:srgbClr val="99FFCC"/>
        </a:accent1>
        <a:accent2>
          <a:srgbClr val="01B0FF"/>
        </a:accent2>
        <a:accent3>
          <a:srgbClr val="ABC1D8"/>
        </a:accent3>
        <a:accent4>
          <a:srgbClr val="DADADA"/>
        </a:accent4>
        <a:accent5>
          <a:srgbClr val="CAFFE2"/>
        </a:accent5>
        <a:accent6>
          <a:srgbClr val="019FE7"/>
        </a:accent6>
        <a:hlink>
          <a:srgbClr val="6666FF"/>
        </a:hlink>
        <a:folHlink>
          <a:srgbClr val="1C6D9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1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66699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B9B9E7"/>
        </a:accent6>
        <a:hlink>
          <a:srgbClr val="CC00C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 4">
        <a:dk1>
          <a:srgbClr val="000000"/>
        </a:dk1>
        <a:lt1>
          <a:srgbClr val="FFFFCC"/>
        </a:lt1>
        <a:dk2>
          <a:srgbClr val="FF6600"/>
        </a:dk2>
        <a:lt2>
          <a:srgbClr val="333300"/>
        </a:lt2>
        <a:accent1>
          <a:srgbClr val="800000"/>
        </a:accent1>
        <a:accent2>
          <a:srgbClr val="CC6600"/>
        </a:accent2>
        <a:accent3>
          <a:srgbClr val="FFFFE2"/>
        </a:accent3>
        <a:accent4>
          <a:srgbClr val="000000"/>
        </a:accent4>
        <a:accent5>
          <a:srgbClr val="C0AAAA"/>
        </a:accent5>
        <a:accent6>
          <a:srgbClr val="B95C00"/>
        </a:accent6>
        <a:hlink>
          <a:srgbClr val="8080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 5">
        <a:dk1>
          <a:srgbClr val="1C3956"/>
        </a:dk1>
        <a:lt1>
          <a:srgbClr val="FFFFFF"/>
        </a:lt1>
        <a:dk2>
          <a:srgbClr val="003366"/>
        </a:dk2>
        <a:lt2>
          <a:srgbClr val="DDDDDD"/>
        </a:lt2>
        <a:accent1>
          <a:srgbClr val="3D7CBB"/>
        </a:accent1>
        <a:accent2>
          <a:srgbClr val="00152A"/>
        </a:accent2>
        <a:accent3>
          <a:srgbClr val="AAADB8"/>
        </a:accent3>
        <a:accent4>
          <a:srgbClr val="DADADA"/>
        </a:accent4>
        <a:accent5>
          <a:srgbClr val="AFBFDA"/>
        </a:accent5>
        <a:accent6>
          <a:srgbClr val="001225"/>
        </a:accent6>
        <a:hlink>
          <a:srgbClr val="33CCCC"/>
        </a:hlink>
        <a:folHlink>
          <a:srgbClr val="96B9D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1 6">
        <a:dk1>
          <a:srgbClr val="000000"/>
        </a:dk1>
        <a:lt1>
          <a:srgbClr val="FFFFFF"/>
        </a:lt1>
        <a:dk2>
          <a:srgbClr val="440044"/>
        </a:dk2>
        <a:lt2>
          <a:srgbClr val="491D49"/>
        </a:lt2>
        <a:accent1>
          <a:srgbClr val="9D9DBD"/>
        </a:accent1>
        <a:accent2>
          <a:srgbClr val="14213C"/>
        </a:accent2>
        <a:accent3>
          <a:srgbClr val="FFFFFF"/>
        </a:accent3>
        <a:accent4>
          <a:srgbClr val="000000"/>
        </a:accent4>
        <a:accent5>
          <a:srgbClr val="CCCCDB"/>
        </a:accent5>
        <a:accent6>
          <a:srgbClr val="111D35"/>
        </a:accent6>
        <a:hlink>
          <a:srgbClr val="666699"/>
        </a:hlink>
        <a:folHlink>
          <a:srgbClr val="DBDBF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 7">
        <a:dk1>
          <a:srgbClr val="000000"/>
        </a:dk1>
        <a:lt1>
          <a:srgbClr val="FFFFFF"/>
        </a:lt1>
        <a:dk2>
          <a:srgbClr val="000000"/>
        </a:dk2>
        <a:lt2>
          <a:srgbClr val="001A00"/>
        </a:lt2>
        <a:accent1>
          <a:srgbClr val="339966"/>
        </a:accent1>
        <a:accent2>
          <a:srgbClr val="003300"/>
        </a:accent2>
        <a:accent3>
          <a:srgbClr val="FFFFFF"/>
        </a:accent3>
        <a:accent4>
          <a:srgbClr val="000000"/>
        </a:accent4>
        <a:accent5>
          <a:srgbClr val="ADCAB8"/>
        </a:accent5>
        <a:accent6>
          <a:srgbClr val="002D00"/>
        </a:accent6>
        <a:hlink>
          <a:srgbClr val="FF9933"/>
        </a:hlink>
        <a:folHlink>
          <a:srgbClr val="AFE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1 8">
        <a:dk1>
          <a:srgbClr val="000000"/>
        </a:dk1>
        <a:lt1>
          <a:srgbClr val="FFFFFF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D60093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C20085"/>
        </a:accent6>
        <a:hlink>
          <a:srgbClr val="9966FF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Designs\CS1.pot</Template>
  <TotalTime>2541</TotalTime>
  <Words>1242</Words>
  <Application>Microsoft Office PowerPoint</Application>
  <PresentationFormat>On-screen Show (4:3)</PresentationFormat>
  <Paragraphs>231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Arial Narrow</vt:lpstr>
      <vt:lpstr>Arial Rounded MT Bold</vt:lpstr>
      <vt:lpstr>Broadway</vt:lpstr>
      <vt:lpstr>Monotype Sorts</vt:lpstr>
      <vt:lpstr>Symbol</vt:lpstr>
      <vt:lpstr>Tahoma</vt:lpstr>
      <vt:lpstr>Times New Roman</vt:lpstr>
      <vt:lpstr>Wingdings</vt:lpstr>
      <vt:lpstr>CS1</vt:lpstr>
      <vt:lpstr>CSE408 Fundamentals of Data Structure </vt:lpstr>
      <vt:lpstr>Fundamental data structures</vt:lpstr>
      <vt:lpstr>Fundamental data structures</vt:lpstr>
      <vt:lpstr>Linear Data Structures</vt:lpstr>
      <vt:lpstr>Stacks and Queues</vt:lpstr>
      <vt:lpstr>Priority Queue and Heap</vt:lpstr>
      <vt:lpstr>Graphs</vt:lpstr>
      <vt:lpstr>Graph Representation</vt:lpstr>
      <vt:lpstr>Weighted Graphs</vt:lpstr>
      <vt:lpstr>Graph Properties -- Paths and Connectivity</vt:lpstr>
      <vt:lpstr>Graph Properties -- Acyclicity</vt:lpstr>
      <vt:lpstr>Trees</vt:lpstr>
      <vt:lpstr>Rooted Trees (I)</vt:lpstr>
      <vt:lpstr>Rooted Trees (II)</vt:lpstr>
      <vt:lpstr>Ordered Trees</vt:lpstr>
      <vt:lpstr>PowerPoint Presentation</vt:lpstr>
    </vt:vector>
  </TitlesOfParts>
  <Company>Villanova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Anany Levitin</dc:creator>
  <cp:lastModifiedBy>Kamini Sharma</cp:lastModifiedBy>
  <cp:revision>139</cp:revision>
  <dcterms:created xsi:type="dcterms:W3CDTF">1999-08-23T17:38:43Z</dcterms:created>
  <dcterms:modified xsi:type="dcterms:W3CDTF">2025-01-13T09:07:58Z</dcterms:modified>
</cp:coreProperties>
</file>