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58" r:id="rId6"/>
    <p:sldId id="265" r:id="rId7"/>
    <p:sldId id="266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>
                <a:solidFill>
                  <a:schemeClr val="tx2">
                    <a:lumMod val="50000"/>
                  </a:schemeClr>
                </a:solidFill>
                <a:latin typeface="Broadway" panose="04040905080B02020502" pitchFamily="82" charset="0"/>
                <a:sym typeface="+mn-ea"/>
              </a:rPr>
              <a:t>CSE408</a:t>
            </a:r>
            <a:br>
              <a:rPr lang="en-US" dirty="0" smtClean="0">
                <a:solidFill>
                  <a:schemeClr val="tx2">
                    <a:lumMod val="50000"/>
                  </a:schemeClr>
                </a:solidFill>
                <a:latin typeface="Broadway" panose="04040905080B02020502" pitchFamily="82" charset="0"/>
                <a:sym typeface="+mn-ea"/>
              </a:rPr>
            </a:br>
            <a:r>
              <a:rPr lang="en-US" dirty="0" smtClean="0">
                <a:solidFill>
                  <a:schemeClr val="tx2">
                    <a:lumMod val="50000"/>
                  </a:schemeClr>
                </a:solidFill>
                <a:latin typeface="Broadway" panose="04040905080B02020502" pitchFamily="82" charset="0"/>
                <a:sym typeface="+mn-ea"/>
              </a:rPr>
              <a:t>Recurrence equations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sym typeface="+mn-ea"/>
              </a:rPr>
              <a:t>Lecture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sym typeface="+mn-ea"/>
              </a:rPr>
              <a:t>#12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  <a:latin typeface="Broadway" panose="04040905080B02020502" pitchFamily="82" charset="0"/>
                <a:sym typeface="+mn-ea"/>
              </a:rPr>
              <a:t>Recurrence</a:t>
            </a:r>
            <a:r>
              <a:rPr lang="en-IN" altLang="en-US" dirty="0" smtClean="0">
                <a:solidFill>
                  <a:schemeClr val="tx2">
                    <a:lumMod val="50000"/>
                  </a:schemeClr>
                </a:solidFill>
                <a:latin typeface="Broadway" panose="04040905080B02020502" pitchFamily="82" charset="0"/>
                <a:sym typeface="+mn-ea"/>
              </a:rPr>
              <a:t> Relations</a:t>
            </a:r>
            <a:endParaRPr lang="en-IN" altLang="en-US" dirty="0" smtClean="0">
              <a:solidFill>
                <a:schemeClr val="tx2">
                  <a:lumMod val="50000"/>
                </a:schemeClr>
              </a:solidFill>
              <a:latin typeface="Broadway" panose="04040905080B02020502" pitchFamily="82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equations that express a problem in terms of its smaller subproblems.</a:t>
            </a:r>
            <a:endParaRPr lang="en-US" altLang="en-US"/>
          </a:p>
          <a:p>
            <a:r>
              <a:rPr lang="en-US" altLang="en-US"/>
              <a:t>commonly used to analyze the time complexity of recursive algorithms.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2-09 at 5.22.11 PM (1)"/>
          <p:cNvPicPr>
            <a:picLocks noChangeAspect="1"/>
          </p:cNvPicPr>
          <p:nvPr/>
        </p:nvPicPr>
        <p:blipFill>
          <a:blip r:embed="rId1"/>
          <a:srcRect l="17828" r="17055"/>
          <a:stretch>
            <a:fillRect/>
          </a:stretch>
        </p:blipFill>
        <p:spPr>
          <a:xfrm>
            <a:off x="2560320" y="1379220"/>
            <a:ext cx="7463155" cy="522224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379345" y="124460"/>
            <a:ext cx="6096000" cy="1137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3200" b="1" u="sng">
                <a:sym typeface="+mn-ea"/>
              </a:rPr>
              <a:t>What is Recurrence Relation?</a:t>
            </a:r>
            <a:endParaRPr lang="en-IN" altLang="en-US" sz="3200" b="1" u="sng">
              <a:sym typeface="+mn-ea"/>
            </a:endParaRPr>
          </a:p>
          <a:p>
            <a:r>
              <a:rPr lang="en-IN" altLang="en-US" u="sng">
                <a:sym typeface="+mn-ea"/>
              </a:rPr>
              <a:t>Following is the recurrence of binary search</a:t>
            </a:r>
            <a:endParaRPr lang="en-IN" altLang="en-US" u="sng">
              <a:sym typeface="+mn-ea"/>
            </a:endParaRPr>
          </a:p>
          <a:p>
            <a:r>
              <a:rPr lang="en-IN" altLang="en-US" u="sng">
                <a:sym typeface="+mn-ea"/>
              </a:rPr>
              <a:t>T(n)=T(n/2)+C</a:t>
            </a:r>
            <a:endParaRPr lang="en-IN" altLang="en-US" u="sng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Methods to Solve Recurrence Relations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Substitution Method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Recursion Tree Method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Master Theorem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2-09 at 5.22.11 PM (4)"/>
          <p:cNvPicPr>
            <a:picLocks noChangeAspect="1"/>
          </p:cNvPicPr>
          <p:nvPr/>
        </p:nvPicPr>
        <p:blipFill>
          <a:blip r:embed="rId1"/>
          <a:srcRect l="16391" r="16398"/>
          <a:stretch>
            <a:fillRect/>
          </a:stretch>
        </p:blipFill>
        <p:spPr>
          <a:xfrm>
            <a:off x="2512695" y="1398905"/>
            <a:ext cx="7454265" cy="37528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512695" y="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3200" b="1" u="sng">
                <a:sym typeface="+mn-ea"/>
              </a:rPr>
              <a:t>Substitution Method</a:t>
            </a:r>
            <a:endParaRPr lang="en-IN" altLang="en-US" sz="3200" b="1" u="sng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12695" y="58356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 u="sng">
                <a:sym typeface="+mn-ea"/>
              </a:rPr>
              <a:t>The recurrence of binary search T(n)=T(n/2)+C</a:t>
            </a:r>
            <a:endParaRPr lang="en-IN" altLang="en-US" b="1" u="sng">
              <a:sym typeface="+mn-ea"/>
            </a:endParaRPr>
          </a:p>
          <a:p>
            <a:r>
              <a:rPr lang="en-IN" altLang="en-US">
                <a:sym typeface="+mn-ea"/>
              </a:rPr>
              <a:t>Solved with the help of Substitution Method</a:t>
            </a:r>
            <a:endParaRPr lang="en-IN" alt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512695" y="562927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 u="sng">
                <a:sym typeface="+mn-ea"/>
              </a:rPr>
              <a:t>The recurrence of binary search T(n)=T(n/2)+C</a:t>
            </a:r>
            <a:endParaRPr lang="en-IN" altLang="en-US" b="1" u="sng">
              <a:sym typeface="+mn-ea"/>
            </a:endParaRPr>
          </a:p>
          <a:p>
            <a:r>
              <a:rPr lang="en-IN" altLang="en-US" b="1" u="sng">
                <a:sym typeface="+mn-ea"/>
              </a:rPr>
              <a:t>With Substitution Method, the complexity is calculated as O(log</a:t>
            </a:r>
            <a:r>
              <a:rPr lang="en-IN" altLang="en-US" b="1" u="sng" baseline="-25000">
                <a:sym typeface="+mn-ea"/>
              </a:rPr>
              <a:t>2</a:t>
            </a:r>
            <a:r>
              <a:rPr lang="en-IN" altLang="en-US" b="1" u="sng">
                <a:sym typeface="+mn-ea"/>
              </a:rPr>
              <a:t>n)</a:t>
            </a:r>
            <a:endParaRPr lang="en-IN" altLang="en-US" b="1" u="sng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WhatsApp Image 2025-02-09 at 5.22.11 PM (5)"/>
          <p:cNvPicPr>
            <a:picLocks noChangeAspect="1"/>
          </p:cNvPicPr>
          <p:nvPr/>
        </p:nvPicPr>
        <p:blipFill>
          <a:blip r:embed="rId1"/>
          <a:srcRect l="14922" r="16484"/>
          <a:stretch>
            <a:fillRect/>
          </a:stretch>
        </p:blipFill>
        <p:spPr>
          <a:xfrm>
            <a:off x="2444750" y="1143000"/>
            <a:ext cx="7493000" cy="498411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444750" y="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u="sng">
                <a:sym typeface="+mn-ea"/>
              </a:rPr>
              <a:t>M</a:t>
            </a:r>
            <a:r>
              <a:rPr lang="en-IN" altLang="en-US" sz="3200" b="1" u="sng">
                <a:sym typeface="+mn-ea"/>
              </a:rPr>
              <a:t>aster Theorem</a:t>
            </a:r>
            <a:endParaRPr lang="en-IN" altLang="en-US" sz="3200" b="1" u="sng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15235" y="4978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 u="sng">
                <a:sym typeface="+mn-ea"/>
              </a:rPr>
              <a:t>T(n)=8T(n/2)+n</a:t>
            </a:r>
            <a:r>
              <a:rPr lang="en-IN" altLang="en-US" b="1" u="sng" baseline="30000">
                <a:sym typeface="+mn-ea"/>
              </a:rPr>
              <a:t>2</a:t>
            </a:r>
            <a:endParaRPr lang="en-IN" altLang="en-US" b="1" u="sng">
              <a:sym typeface="+mn-ea"/>
            </a:endParaRPr>
          </a:p>
          <a:p>
            <a:r>
              <a:rPr lang="en-IN" altLang="en-US">
                <a:sym typeface="+mn-ea"/>
              </a:rPr>
              <a:t>Solved with Master Therom</a:t>
            </a:r>
            <a:endParaRPr lang="en-IN" alt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44750" y="60350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 u="sng">
                <a:sym typeface="+mn-ea"/>
              </a:rPr>
              <a:t> T(n)=8T(n/2)+n</a:t>
            </a:r>
            <a:r>
              <a:rPr lang="en-IN" altLang="en-US" b="1" u="sng" baseline="30000">
                <a:sym typeface="+mn-ea"/>
              </a:rPr>
              <a:t>2</a:t>
            </a:r>
            <a:endParaRPr lang="en-IN" altLang="en-US" b="1" u="sng">
              <a:sym typeface="+mn-ea"/>
            </a:endParaRPr>
          </a:p>
          <a:p>
            <a:r>
              <a:rPr lang="en-IN" altLang="en-US" b="1" u="sng">
                <a:sym typeface="+mn-ea"/>
              </a:rPr>
              <a:t>With Master Therom, the complexity is calculated as n</a:t>
            </a:r>
            <a:r>
              <a:rPr lang="en-IN" altLang="en-US" b="1" u="sng" baseline="30000">
                <a:sym typeface="+mn-ea"/>
              </a:rPr>
              <a:t>3</a:t>
            </a:r>
            <a:endParaRPr lang="en-IN" altLang="en-US" b="1" u="sng" baseline="300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2-09 at 5.22.11 PM (3)"/>
          <p:cNvPicPr>
            <a:picLocks noChangeAspect="1"/>
          </p:cNvPicPr>
          <p:nvPr/>
        </p:nvPicPr>
        <p:blipFill>
          <a:blip r:embed="rId1"/>
          <a:srcRect l="14555" r="16141"/>
          <a:stretch>
            <a:fillRect/>
          </a:stretch>
        </p:blipFill>
        <p:spPr>
          <a:xfrm>
            <a:off x="2334260" y="775335"/>
            <a:ext cx="7868920" cy="50196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334260" y="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 u="sng">
                <a:sym typeface="+mn-ea"/>
              </a:rPr>
              <a:t>T(n)=(n/2)+c</a:t>
            </a:r>
            <a:endParaRPr lang="en-IN" altLang="en-US" b="1" u="sng">
              <a:sym typeface="+mn-ea"/>
            </a:endParaRPr>
          </a:p>
          <a:p>
            <a:r>
              <a:rPr lang="en-IN" altLang="en-US">
                <a:sym typeface="+mn-ea"/>
              </a:rPr>
              <a:t>Solved with Master Therom</a:t>
            </a:r>
            <a:endParaRPr lang="en-IN" altLang="en-US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334260" y="592518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 u="sng">
                <a:sym typeface="+mn-ea"/>
              </a:rPr>
              <a:t> T(n)=(n/2)+c</a:t>
            </a:r>
            <a:endParaRPr lang="en-IN" altLang="en-US" b="1" u="sng">
              <a:sym typeface="+mn-ea"/>
            </a:endParaRPr>
          </a:p>
          <a:p>
            <a:r>
              <a:rPr lang="en-IN" altLang="en-US" b="1" u="sng">
                <a:sym typeface="+mn-ea"/>
              </a:rPr>
              <a:t>With Master Therom, the complexity is calculated as O(log</a:t>
            </a:r>
            <a:r>
              <a:rPr lang="en-IN" altLang="en-US" b="1" u="sng" baseline="-25000">
                <a:sym typeface="+mn-ea"/>
              </a:rPr>
              <a:t>2</a:t>
            </a:r>
            <a:r>
              <a:rPr lang="en-IN" altLang="en-US" b="1" u="sng">
                <a:sym typeface="+mn-ea"/>
              </a:rPr>
              <a:t>n)</a:t>
            </a:r>
            <a:endParaRPr lang="en-IN" altLang="en-US" b="1" u="sng" baseline="300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WhatsApp Image 2025-02-12 at 8.42.11 PM"/>
          <p:cNvPicPr>
            <a:picLocks noChangeAspect="1"/>
          </p:cNvPicPr>
          <p:nvPr/>
        </p:nvPicPr>
        <p:blipFill>
          <a:blip r:embed="rId1"/>
          <a:srcRect b="9631"/>
          <a:stretch>
            <a:fillRect/>
          </a:stretch>
        </p:blipFill>
        <p:spPr>
          <a:xfrm>
            <a:off x="2106295" y="1344930"/>
            <a:ext cx="8128000" cy="41230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032000" y="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u="sng">
                <a:sym typeface="+mn-ea"/>
              </a:rPr>
              <a:t>Recursion Tree Method</a:t>
            </a:r>
            <a:endParaRPr lang="en-US" altLang="en-US" sz="3200" b="1" u="sng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032000" y="6997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 u="sng">
                <a:sym typeface="+mn-ea"/>
              </a:rPr>
              <a:t>Recurrence of merge sort T(n)=2T(n/2)+cn</a:t>
            </a:r>
            <a:endParaRPr lang="en-IN" altLang="en-US" b="1" u="sng">
              <a:sym typeface="+mn-ea"/>
            </a:endParaRPr>
          </a:p>
          <a:p>
            <a:r>
              <a:rPr lang="en-IN" altLang="en-US">
                <a:sym typeface="+mn-ea"/>
              </a:rPr>
              <a:t>Solved with Recursion Tree Method</a:t>
            </a:r>
            <a:endParaRPr lang="en-IN" alt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032000" y="582168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b="1" u="sng">
                <a:sym typeface="+mn-ea"/>
              </a:rPr>
              <a:t>T(n)=2T(n/2)+cn</a:t>
            </a:r>
            <a:endParaRPr lang="en-IN" altLang="en-US" b="1" u="sng">
              <a:sym typeface="+mn-ea"/>
            </a:endParaRPr>
          </a:p>
          <a:p>
            <a:r>
              <a:rPr lang="en-IN" altLang="en-US">
                <a:sym typeface="+mn-ea"/>
              </a:rPr>
              <a:t>Solved with Recursion Tree Method and get complexity as O(nlogn)</a:t>
            </a:r>
            <a:endParaRPr lang="en-IN" altLang="en-US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WPS Presentation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Broadway</vt:lpstr>
      <vt:lpstr>Arial Rounded MT Bold</vt:lpstr>
      <vt:lpstr>Calibri Light</vt:lpstr>
      <vt:lpstr>Calibri</vt:lpstr>
      <vt:lpstr>Microsoft YaHei</vt:lpstr>
      <vt:lpstr>Arial Unicode MS</vt:lpstr>
      <vt:lpstr>Office Theme</vt:lpstr>
      <vt:lpstr>CSE408 Recurrence equations </vt:lpstr>
      <vt:lpstr>Recurrence Relations</vt:lpstr>
      <vt:lpstr>PowerPoint 演示文稿</vt:lpstr>
      <vt:lpstr>Methods to Solve Recurrence Relations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CSE408 Recurrence equations </dc:title>
  <dc:creator/>
  <cp:lastModifiedBy>Priyanka Gotter</cp:lastModifiedBy>
  <cp:revision>18</cp:revision>
  <dcterms:created xsi:type="dcterms:W3CDTF">2025-02-09T12:19:00Z</dcterms:created>
  <dcterms:modified xsi:type="dcterms:W3CDTF">2025-02-15T05:32:10Z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3937BB630D1840B69C162F9D736DB260_11</vt:lpwstr>
  </property>
  <property fmtid="{D5CDD505-2E9C-101B-9397-08002B2CF9AE}" pid="3" name="KSOProductBuildVer">
    <vt:lpwstr>1033-12.2.0.19805</vt:lpwstr>
  </property>
</Properties>
</file>